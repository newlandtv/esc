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24384000" cy="13716000"/>
  <p:notesSz cx="6858000" cy="9144000"/>
  <p:embeddedFontLst>
    <p:embeddedFont>
      <p:font typeface="Gong Gothic Bold" panose="020B0600000101010101" charset="-127"/>
      <p:bold r:id="rId55"/>
    </p:embeddedFont>
    <p:embeddedFont>
      <p:font typeface="Gong Gothic Light" panose="020B0600000101010101" charset="-127"/>
      <p:regular r:id="rId56"/>
    </p:embeddedFont>
    <p:embeddedFont>
      <p:font typeface="Gong Gothic Medium" panose="020B0600000101010101" charset="-127"/>
      <p:bold r:id="rId57"/>
    </p:embeddedFont>
    <p:embeddedFont>
      <p:font typeface="Heebo ExtraBold" pitchFamily="2" charset="-79"/>
      <p:bold r:id="rId58"/>
    </p:embeddedFont>
    <p:embeddedFont>
      <p:font typeface="Heebo Light" pitchFamily="2" charset="-79"/>
      <p:regular r:id="rId59"/>
    </p:embeddedFont>
    <p:embeddedFont>
      <p:font typeface="Lexend Bold" panose="020B0600000101010101" charset="0"/>
      <p:bold r:id="rId6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456160-7646-4BDA-A80A-EBF9DB9F7024}" v="11" dt="2026-04-08T13:39:39.7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315" y="3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1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4.fntdata"/><Relationship Id="rId66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2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6.fntdata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E WON SHIN" userId="e0f32473a075e9e0" providerId="LiveId" clId="{2B2B81D2-6A48-48EB-A0A1-98F3BF93B893}"/>
    <pc:docChg chg="modSld">
      <pc:chgData name="CHAE WON SHIN" userId="e0f32473a075e9e0" providerId="LiveId" clId="{2B2B81D2-6A48-48EB-A0A1-98F3BF93B893}" dt="2026-04-08T13:41:19.797" v="58" actId="20577"/>
      <pc:docMkLst>
        <pc:docMk/>
      </pc:docMkLst>
      <pc:sldChg chg="modSp mod">
        <pc:chgData name="CHAE WON SHIN" userId="e0f32473a075e9e0" providerId="LiveId" clId="{2B2B81D2-6A48-48EB-A0A1-98F3BF93B893}" dt="2026-04-08T13:35:07.649" v="1" actId="20577"/>
        <pc:sldMkLst>
          <pc:docMk/>
          <pc:sldMk cId="0" sldId="256"/>
        </pc:sldMkLst>
        <pc:spChg chg="mod">
          <ac:chgData name="CHAE WON SHIN" userId="e0f32473a075e9e0" providerId="LiveId" clId="{2B2B81D2-6A48-48EB-A0A1-98F3BF93B893}" dt="2026-04-08T13:35:07.649" v="1" actId="20577"/>
          <ac:spMkLst>
            <pc:docMk/>
            <pc:sldMk cId="0" sldId="256"/>
            <ac:spMk id="4" creationId="{00000000-0000-0000-0000-000000000000}"/>
          </ac:spMkLst>
        </pc:spChg>
      </pc:sldChg>
      <pc:sldChg chg="modAnim">
        <pc:chgData name="CHAE WON SHIN" userId="e0f32473a075e9e0" providerId="LiveId" clId="{2B2B81D2-6A48-48EB-A0A1-98F3BF93B893}" dt="2026-04-08T13:35:21.666" v="2"/>
        <pc:sldMkLst>
          <pc:docMk/>
          <pc:sldMk cId="0" sldId="263"/>
        </pc:sldMkLst>
      </pc:sldChg>
      <pc:sldChg chg="modAnim">
        <pc:chgData name="CHAE WON SHIN" userId="e0f32473a075e9e0" providerId="LiveId" clId="{2B2B81D2-6A48-48EB-A0A1-98F3BF93B893}" dt="2026-04-08T13:35:45.418" v="3"/>
        <pc:sldMkLst>
          <pc:docMk/>
          <pc:sldMk cId="0" sldId="279"/>
        </pc:sldMkLst>
      </pc:sldChg>
      <pc:sldChg chg="modSp mod">
        <pc:chgData name="CHAE WON SHIN" userId="e0f32473a075e9e0" providerId="LiveId" clId="{2B2B81D2-6A48-48EB-A0A1-98F3BF93B893}" dt="2026-04-08T13:36:35.724" v="12" actId="122"/>
        <pc:sldMkLst>
          <pc:docMk/>
          <pc:sldMk cId="0" sldId="280"/>
        </pc:sldMkLst>
        <pc:spChg chg="mod">
          <ac:chgData name="CHAE WON SHIN" userId="e0f32473a075e9e0" providerId="LiveId" clId="{2B2B81D2-6A48-48EB-A0A1-98F3BF93B893}" dt="2026-04-08T13:36:35.724" v="12" actId="122"/>
          <ac:spMkLst>
            <pc:docMk/>
            <pc:sldMk cId="0" sldId="280"/>
            <ac:spMk id="4" creationId="{00000000-0000-0000-0000-000000000000}"/>
          </ac:spMkLst>
        </pc:spChg>
      </pc:sldChg>
      <pc:sldChg chg="modSp mod">
        <pc:chgData name="CHAE WON SHIN" userId="e0f32473a075e9e0" providerId="LiveId" clId="{2B2B81D2-6A48-48EB-A0A1-98F3BF93B893}" dt="2026-04-08T13:36:58.806" v="15" actId="20577"/>
        <pc:sldMkLst>
          <pc:docMk/>
          <pc:sldMk cId="0" sldId="282"/>
        </pc:sldMkLst>
        <pc:spChg chg="mod">
          <ac:chgData name="CHAE WON SHIN" userId="e0f32473a075e9e0" providerId="LiveId" clId="{2B2B81D2-6A48-48EB-A0A1-98F3BF93B893}" dt="2026-04-08T13:36:58.806" v="15" actId="20577"/>
          <ac:spMkLst>
            <pc:docMk/>
            <pc:sldMk cId="0" sldId="282"/>
            <ac:spMk id="8" creationId="{00000000-0000-0000-0000-000000000000}"/>
          </ac:spMkLst>
        </pc:spChg>
      </pc:sldChg>
      <pc:sldChg chg="modSp mod">
        <pc:chgData name="CHAE WON SHIN" userId="e0f32473a075e9e0" providerId="LiveId" clId="{2B2B81D2-6A48-48EB-A0A1-98F3BF93B893}" dt="2026-04-08T13:41:19.797" v="58" actId="20577"/>
        <pc:sldMkLst>
          <pc:docMk/>
          <pc:sldMk cId="0" sldId="283"/>
        </pc:sldMkLst>
        <pc:spChg chg="mod">
          <ac:chgData name="CHAE WON SHIN" userId="e0f32473a075e9e0" providerId="LiveId" clId="{2B2B81D2-6A48-48EB-A0A1-98F3BF93B893}" dt="2026-04-08T13:41:19.797" v="58" actId="20577"/>
          <ac:spMkLst>
            <pc:docMk/>
            <pc:sldMk cId="0" sldId="283"/>
            <ac:spMk id="5" creationId="{00000000-0000-0000-0000-000000000000}"/>
          </ac:spMkLst>
        </pc:spChg>
      </pc:sldChg>
      <pc:sldChg chg="modSp mod">
        <pc:chgData name="CHAE WON SHIN" userId="e0f32473a075e9e0" providerId="LiveId" clId="{2B2B81D2-6A48-48EB-A0A1-98F3BF93B893}" dt="2026-04-08T13:39:39.777" v="49"/>
        <pc:sldMkLst>
          <pc:docMk/>
          <pc:sldMk cId="0" sldId="290"/>
        </pc:sldMkLst>
        <pc:spChg chg="mod">
          <ac:chgData name="CHAE WON SHIN" userId="e0f32473a075e9e0" providerId="LiveId" clId="{2B2B81D2-6A48-48EB-A0A1-98F3BF93B893}" dt="2026-04-08T13:39:39.777" v="49"/>
          <ac:spMkLst>
            <pc:docMk/>
            <pc:sldMk cId="0" sldId="290"/>
            <ac:spMk id="4" creationId="{00000000-0000-0000-0000-000000000000}"/>
          </ac:spMkLst>
        </pc:spChg>
      </pc:sldChg>
      <pc:sldChg chg="modSp mod">
        <pc:chgData name="CHAE WON SHIN" userId="e0f32473a075e9e0" providerId="LiveId" clId="{2B2B81D2-6A48-48EB-A0A1-98F3BF93B893}" dt="2026-04-08T13:39:29.551" v="43" actId="20577"/>
        <pc:sldMkLst>
          <pc:docMk/>
          <pc:sldMk cId="0" sldId="291"/>
        </pc:sldMkLst>
        <pc:spChg chg="mod">
          <ac:chgData name="CHAE WON SHIN" userId="e0f32473a075e9e0" providerId="LiveId" clId="{2B2B81D2-6A48-48EB-A0A1-98F3BF93B893}" dt="2026-04-08T13:39:29.551" v="43" actId="20577"/>
          <ac:spMkLst>
            <pc:docMk/>
            <pc:sldMk cId="0" sldId="291"/>
            <ac:spMk id="4" creationId="{00000000-0000-0000-0000-000000000000}"/>
          </ac:spMkLst>
        </pc:spChg>
      </pc:sldChg>
      <pc:sldChg chg="modSp mod">
        <pc:chgData name="CHAE WON SHIN" userId="e0f32473a075e9e0" providerId="LiveId" clId="{2B2B81D2-6A48-48EB-A0A1-98F3BF93B893}" dt="2026-04-08T13:37:51.395" v="26" actId="122"/>
        <pc:sldMkLst>
          <pc:docMk/>
          <pc:sldMk cId="0" sldId="295"/>
        </pc:sldMkLst>
        <pc:spChg chg="mod">
          <ac:chgData name="CHAE WON SHIN" userId="e0f32473a075e9e0" providerId="LiveId" clId="{2B2B81D2-6A48-48EB-A0A1-98F3BF93B893}" dt="2026-04-08T13:37:51.395" v="26" actId="122"/>
          <ac:spMkLst>
            <pc:docMk/>
            <pc:sldMk cId="0" sldId="295"/>
            <ac:spMk id="4" creationId="{00000000-0000-0000-0000-000000000000}"/>
          </ac:spMkLst>
        </pc:spChg>
      </pc:sldChg>
      <pc:sldChg chg="modAnim">
        <pc:chgData name="CHAE WON SHIN" userId="e0f32473a075e9e0" providerId="LiveId" clId="{2B2B81D2-6A48-48EB-A0A1-98F3BF93B893}" dt="2026-04-08T13:38:02.123" v="27"/>
        <pc:sldMkLst>
          <pc:docMk/>
          <pc:sldMk cId="0" sldId="298"/>
        </pc:sldMkLst>
      </pc:sldChg>
      <pc:sldChg chg="modAnim">
        <pc:chgData name="CHAE WON SHIN" userId="e0f32473a075e9e0" providerId="LiveId" clId="{2B2B81D2-6A48-48EB-A0A1-98F3BF93B893}" dt="2026-04-08T13:38:07.344" v="28"/>
        <pc:sldMkLst>
          <pc:docMk/>
          <pc:sldMk cId="0" sldId="300"/>
        </pc:sldMkLst>
      </pc:sldChg>
      <pc:sldChg chg="modSp mod modAnim">
        <pc:chgData name="CHAE WON SHIN" userId="e0f32473a075e9e0" providerId="LiveId" clId="{2B2B81D2-6A48-48EB-A0A1-98F3BF93B893}" dt="2026-04-08T13:38:20.191" v="32" actId="122"/>
        <pc:sldMkLst>
          <pc:docMk/>
          <pc:sldMk cId="0" sldId="301"/>
        </pc:sldMkLst>
        <pc:spChg chg="mod">
          <ac:chgData name="CHAE WON SHIN" userId="e0f32473a075e9e0" providerId="LiveId" clId="{2B2B81D2-6A48-48EB-A0A1-98F3BF93B893}" dt="2026-04-08T13:38:20.191" v="32" actId="122"/>
          <ac:spMkLst>
            <pc:docMk/>
            <pc:sldMk cId="0" sldId="301"/>
            <ac:spMk id="4" creationId="{00000000-0000-0000-0000-000000000000}"/>
          </ac:spMkLst>
        </pc:spChg>
      </pc:sldChg>
      <pc:sldChg chg="modSp mod">
        <pc:chgData name="CHAE WON SHIN" userId="e0f32473a075e9e0" providerId="LiveId" clId="{2B2B81D2-6A48-48EB-A0A1-98F3BF93B893}" dt="2026-04-08T13:38:34.322" v="41" actId="20577"/>
        <pc:sldMkLst>
          <pc:docMk/>
          <pc:sldMk cId="0" sldId="303"/>
        </pc:sldMkLst>
        <pc:spChg chg="mod">
          <ac:chgData name="CHAE WON SHIN" userId="e0f32473a075e9e0" providerId="LiveId" clId="{2B2B81D2-6A48-48EB-A0A1-98F3BF93B893}" dt="2026-04-08T13:38:34.322" v="41" actId="20577"/>
          <ac:spMkLst>
            <pc:docMk/>
            <pc:sldMk cId="0" sldId="303"/>
            <ac:spMk id="12" creationId="{00000000-0000-0000-0000-000000000000}"/>
          </ac:spMkLst>
        </pc:spChg>
      </pc:sldChg>
      <pc:sldChg chg="modAnim">
        <pc:chgData name="CHAE WON SHIN" userId="e0f32473a075e9e0" providerId="LiveId" clId="{2B2B81D2-6A48-48EB-A0A1-98F3BF93B893}" dt="2026-04-08T13:38:39.214" v="42"/>
        <pc:sldMkLst>
          <pc:docMk/>
          <pc:sldMk cId="0" sldId="30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.png"/><Relationship Id="rId7" Type="http://schemas.openxmlformats.org/officeDocument/2006/relationships/image" Target="../media/image5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43200"/>
            <a:ext cx="1270000" cy="822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2743200"/>
            <a:ext cx="1270000" cy="2654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463800" y="12407900"/>
            <a:ext cx="46101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3199" cap="all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2</a:t>
            </a:r>
            <a:r>
              <a:rPr lang="en-US" sz="3199" b="0" i="0" u="none" strike="noStrike" cap="all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차시 PPT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399000" y="12407900"/>
            <a:ext cx="5422900" cy="571500"/>
          </a:xfrm>
          <a:prstGeom prst="rect">
            <a:avLst/>
          </a:prstGeom>
        </p:spPr>
        <p:txBody>
          <a:bodyPr lIns="0" tIns="0" rIns="0" bIns="60960" rtlCol="0" anchor="b"/>
          <a:lstStyle/>
          <a:p>
            <a:pPr lvl="0" algn="r">
              <a:lnSpc>
                <a:spcPct val="91299"/>
              </a:lnSpc>
            </a:pPr>
            <a:r>
              <a:rPr lang="en-US" sz="3200" b="0" i="0" u="none" strike="noStrike" cap="all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2401 신채원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51100" y="2489200"/>
            <a:ext cx="13601700" cy="5676900"/>
          </a:xfrm>
          <a:prstGeom prst="rect">
            <a:avLst/>
          </a:prstGeom>
        </p:spPr>
        <p:txBody>
          <a:bodyPr lIns="0" tIns="433494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17066" b="0" i="0" u="none" strike="noStrike" dirty="0">
                <a:solidFill>
                  <a:srgbClr val="000000"/>
                </a:solidFill>
                <a:latin typeface="Lexend Bold"/>
                <a:ea typeface="Lexend Bold"/>
                <a:cs typeface="Lexend Bold"/>
              </a:rPr>
              <a:t>AI </a:t>
            </a:r>
            <a:r>
              <a:rPr lang="en-US" sz="17066" b="0" i="0" u="none" strike="noStrike" dirty="0" err="1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프롬프트</a:t>
            </a:r>
            <a:r>
              <a:rPr lang="en-US" sz="17066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 </a:t>
            </a:r>
            <a:r>
              <a:rPr lang="en-US" sz="17066" b="0" i="0" u="none" strike="noStrike" dirty="0" err="1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이론</a:t>
            </a:r>
            <a:r>
              <a:rPr lang="en-US" sz="17066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 2차시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63800" y="952500"/>
            <a:ext cx="130175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400" b="0" i="0" u="none" strike="noStrike" cap="all">
                <a:solidFill>
                  <a:srgbClr val="000000"/>
                </a:solidFill>
                <a:latin typeface="Heebo Light"/>
                <a:ea typeface="Heebo Light"/>
                <a:cs typeface="Heebo Light"/>
              </a:rPr>
              <a:t>2026.04.08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885400" y="1917700"/>
            <a:ext cx="1422400" cy="762000"/>
          </a:xfrm>
          <a:prstGeom prst="rect">
            <a:avLst/>
          </a:prstGeom>
        </p:spPr>
        <p:txBody>
          <a:bodyPr lIns="0" tIns="0" rIns="0" bIns="60960" rtlCol="0" anchor="b"/>
          <a:lstStyle/>
          <a:p>
            <a:pPr lvl="0" algn="r">
              <a:lnSpc>
                <a:spcPct val="91299"/>
              </a:lnSpc>
            </a:pPr>
            <a:r>
              <a:rPr lang="en-US" sz="4266" b="0" i="0" u="none" strike="noStrike" cap="all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esc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71800" y="3657600"/>
            <a:ext cx="6388100" cy="6388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463800" y="2082800"/>
            <a:ext cx="6311900" cy="28448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Lexend Bold"/>
                <a:ea typeface="Lexend Bold"/>
                <a:cs typeface="Lexend Bold"/>
              </a:rPr>
              <a:t>Table of Contents.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147800" y="5600700"/>
            <a:ext cx="8267700" cy="541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66000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프롬프트 엔지니어링 개념 및 역사</a:t>
            </a:r>
          </a:p>
          <a:p>
            <a:pPr lvl="0" algn="l">
              <a:lnSpc>
                <a:spcPct val="166000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AI가 이해하기 위한 자연어 분석의 이해</a:t>
            </a:r>
          </a:p>
          <a:p>
            <a:pPr lvl="0" algn="l">
              <a:lnSpc>
                <a:spcPct val="166000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프롬프트 작성 기본원칙 이해</a:t>
            </a:r>
          </a:p>
          <a:p>
            <a:pPr lvl="0" algn="l">
              <a:lnSpc>
                <a:spcPct val="166000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프롬프트 설계전략 수립</a:t>
            </a:r>
          </a:p>
          <a:p>
            <a:pPr lvl="0" algn="l">
              <a:lnSpc>
                <a:spcPct val="166000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프롬프트 엔지니어링 스킬 응용</a:t>
            </a:r>
          </a:p>
          <a:p>
            <a:pPr lvl="0" algn="l">
              <a:lnSpc>
                <a:spcPct val="166000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프롬프트 엔지니어를 위한 윤리 원칙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620500" y="5588000"/>
            <a:ext cx="2120900" cy="546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66000"/>
              </a:lnSpc>
            </a:pPr>
            <a:r>
              <a:rPr lang="en-US" sz="3733" b="0" i="0" u="none" strike="noStrike" cap="all">
                <a:solidFill>
                  <a:srgbClr val="000000"/>
                </a:solidFill>
                <a:latin typeface="Heebo ExtraBold"/>
                <a:ea typeface="Heebo ExtraBold"/>
                <a:cs typeface="Heebo ExtraBold"/>
              </a:rPr>
              <a:t>001</a:t>
            </a:r>
          </a:p>
          <a:p>
            <a:pPr lvl="0" algn="r">
              <a:lnSpc>
                <a:spcPct val="166000"/>
              </a:lnSpc>
            </a:pPr>
            <a:r>
              <a:rPr lang="en-US" sz="3733" b="0" i="0" u="none" strike="noStrike" cap="all">
                <a:solidFill>
                  <a:srgbClr val="000000"/>
                </a:solidFill>
                <a:latin typeface="Heebo ExtraBold"/>
                <a:ea typeface="Heebo ExtraBold"/>
                <a:cs typeface="Heebo ExtraBold"/>
              </a:rPr>
              <a:t>002</a:t>
            </a:r>
          </a:p>
          <a:p>
            <a:pPr lvl="0" algn="r">
              <a:lnSpc>
                <a:spcPct val="166000"/>
              </a:lnSpc>
            </a:pPr>
            <a:r>
              <a:rPr lang="en-US" sz="3733" b="0" i="0" u="none" strike="noStrike" cap="all">
                <a:solidFill>
                  <a:srgbClr val="000000"/>
                </a:solidFill>
                <a:latin typeface="Heebo ExtraBold"/>
                <a:ea typeface="Heebo ExtraBold"/>
                <a:cs typeface="Heebo ExtraBold"/>
              </a:rPr>
              <a:t>003</a:t>
            </a:r>
          </a:p>
          <a:p>
            <a:pPr lvl="0" algn="r">
              <a:lnSpc>
                <a:spcPct val="166000"/>
              </a:lnSpc>
            </a:pPr>
            <a:r>
              <a:rPr lang="en-US" sz="3733" b="0" i="0" u="none" strike="noStrike" cap="all">
                <a:solidFill>
                  <a:srgbClr val="000000"/>
                </a:solidFill>
                <a:latin typeface="Heebo ExtraBold"/>
                <a:ea typeface="Heebo ExtraBold"/>
                <a:cs typeface="Heebo ExtraBold"/>
              </a:rPr>
              <a:t>004</a:t>
            </a:r>
          </a:p>
          <a:p>
            <a:pPr lvl="0" algn="r">
              <a:lnSpc>
                <a:spcPct val="166000"/>
              </a:lnSpc>
            </a:pPr>
            <a:r>
              <a:rPr lang="en-US" sz="3733" b="0" i="0" u="none" strike="noStrike" cap="all">
                <a:solidFill>
                  <a:srgbClr val="000000"/>
                </a:solidFill>
                <a:latin typeface="Heebo ExtraBold"/>
                <a:ea typeface="Heebo ExtraBold"/>
                <a:cs typeface="Heebo ExtraBold"/>
              </a:rPr>
              <a:t>005</a:t>
            </a:r>
          </a:p>
          <a:p>
            <a:pPr lvl="0" algn="r">
              <a:lnSpc>
                <a:spcPct val="166000"/>
              </a:lnSpc>
            </a:pPr>
            <a:r>
              <a:rPr lang="en-US" sz="3733" b="0" i="0" u="none" strike="noStrike" cap="all">
                <a:solidFill>
                  <a:srgbClr val="000000"/>
                </a:solidFill>
                <a:latin typeface="Heebo ExtraBold"/>
                <a:ea typeface="Heebo ExtraBold"/>
                <a:cs typeface="Heebo ExtraBold"/>
              </a:rPr>
              <a:t>006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00" y="5626100"/>
            <a:ext cx="10083800" cy="5676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476500" y="4356100"/>
            <a:ext cx="21043900" cy="4483100"/>
          </a:xfrm>
          <a:prstGeom prst="rect">
            <a:avLst/>
          </a:prstGeom>
        </p:spPr>
        <p:txBody>
          <a:bodyPr lIns="0" tIns="270932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14696" b="0" i="0" u="none" strike="noStrike" spc="-8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01. 프롬프트 엔지니어링</a:t>
            </a:r>
          </a:p>
          <a:p>
            <a:pPr lvl="0" algn="l">
              <a:lnSpc>
                <a:spcPct val="83000"/>
              </a:lnSpc>
            </a:pPr>
            <a:r>
              <a:rPr lang="en-US" sz="14696" b="0" i="0" u="none" strike="noStrike" spc="-8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개념 및 역사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245600"/>
            <a:ext cx="4470400" cy="447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463800" y="2082800"/>
            <a:ext cx="8178800" cy="16637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학습 목표 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959100" y="5600700"/>
            <a:ext cx="4013200" cy="825500"/>
          </a:xfrm>
          <a:prstGeom prst="rect">
            <a:avLst/>
          </a:prstGeom>
        </p:spPr>
        <p:txBody>
          <a:bodyPr lIns="0" tIns="27940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Heebo ExtraBold"/>
                <a:ea typeface="Heebo ExtraBold"/>
                <a:cs typeface="Heebo ExtraBold"/>
              </a:rPr>
              <a:t>Content 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01000" y="5727700"/>
            <a:ext cx="12814300" cy="7112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999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프롬프트 엔지니어링의 정의와 중요성을 알 수 있다.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27400" y="8470900"/>
            <a:ext cx="3276600" cy="825500"/>
          </a:xfrm>
          <a:prstGeom prst="rect">
            <a:avLst/>
          </a:prstGeom>
        </p:spPr>
        <p:txBody>
          <a:bodyPr lIns="0" tIns="27940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Heebo ExtraBold"/>
                <a:ea typeface="Heebo ExtraBold"/>
                <a:cs typeface="Heebo ExtraBold"/>
              </a:rPr>
              <a:t>Content 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01000" y="8559800"/>
            <a:ext cx="12814300" cy="7112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999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프롬프트 엔지니어링의 등장 배경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1900" y="4483100"/>
            <a:ext cx="17640300" cy="1778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676400" y="1651000"/>
            <a:ext cx="21005800" cy="16637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01. 프롬프트 엔지니어링의 정의와 중요성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82900" y="4749800"/>
            <a:ext cx="16891000" cy="1244600"/>
          </a:xfrm>
          <a:prstGeom prst="rect">
            <a:avLst/>
          </a:prstGeom>
        </p:spPr>
        <p:txBody>
          <a:bodyPr lIns="0" tIns="0" rIns="0" bIns="88526" rtlCol="0" anchor="b"/>
          <a:lstStyle/>
          <a:p>
            <a:pPr lvl="0" algn="ctr">
              <a:lnSpc>
                <a:spcPct val="99600"/>
              </a:lnSpc>
            </a:pPr>
            <a:r>
              <a:rPr lang="en-US" sz="6970" b="0" i="0" u="none" strike="noStrike">
                <a:solidFill>
                  <a:srgbClr val="FFFFFF"/>
                </a:solidFill>
                <a:latin typeface="Gong Gothic Light"/>
                <a:ea typeface="Gong Gothic Light"/>
                <a:cs typeface="Gong Gothic Light"/>
              </a:rPr>
              <a:t>프롬프트 엔지니어링??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984500" y="6680200"/>
            <a:ext cx="18618200" cy="977900"/>
          </a:xfrm>
          <a:prstGeom prst="rect">
            <a:avLst/>
          </a:prstGeom>
        </p:spPr>
        <p:txBody>
          <a:bodyPr lIns="0" tIns="34778" rIns="0" bIns="0" rtlCol="0" anchor="t"/>
          <a:lstStyle/>
          <a:p>
            <a:pPr marL="342900" lvl="1" indent="-342900" algn="l">
              <a:lnSpc>
                <a:spcPct val="107899"/>
              </a:lnSpc>
              <a:buAutoNum type="arabicPeriod"/>
            </a:pPr>
            <a:r>
              <a:rPr lang="en-US" sz="547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AI 모델과의 효과적인 커뮤니케이션을 위한 입력 최적화 기술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984500" y="8534400"/>
            <a:ext cx="18046700" cy="977900"/>
          </a:xfrm>
          <a:prstGeom prst="rect">
            <a:avLst/>
          </a:prstGeom>
        </p:spPr>
        <p:txBody>
          <a:bodyPr lIns="0" tIns="34778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547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2. 목적에 맞는 출력을 얻기 위한 체계적인 프롬프트 설계 방법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84500" y="10388600"/>
            <a:ext cx="18046700" cy="977900"/>
          </a:xfrm>
          <a:prstGeom prst="rect">
            <a:avLst/>
          </a:prstGeom>
        </p:spPr>
        <p:txBody>
          <a:bodyPr lIns="0" tIns="34778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547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3. 자연어로 AI의 성능을 최대한으로 끌어내는 기법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20600" y="9385300"/>
            <a:ext cx="6604000" cy="508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6400" y="9677400"/>
            <a:ext cx="2336800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1900" y="4483100"/>
            <a:ext cx="17640300" cy="1778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676400" y="1651000"/>
            <a:ext cx="21005800" cy="16637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01. 프롬프트 엔지니어링의 정의와 중요성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82900" y="4749800"/>
            <a:ext cx="16891000" cy="1244600"/>
          </a:xfrm>
          <a:prstGeom prst="rect">
            <a:avLst/>
          </a:prstGeom>
        </p:spPr>
        <p:txBody>
          <a:bodyPr lIns="0" tIns="0" rIns="0" bIns="88526" rtlCol="0" anchor="b"/>
          <a:lstStyle/>
          <a:p>
            <a:pPr lvl="0" algn="ctr">
              <a:lnSpc>
                <a:spcPct val="99600"/>
              </a:lnSpc>
            </a:pPr>
            <a:r>
              <a:rPr lang="en-US" sz="6970" b="0" i="0" u="none" strike="noStrike">
                <a:solidFill>
                  <a:srgbClr val="FFFFFF"/>
                </a:solidFill>
                <a:latin typeface="Gong Gothic Light"/>
                <a:ea typeface="Gong Gothic Light"/>
                <a:cs typeface="Gong Gothic Light"/>
              </a:rPr>
              <a:t>프롬프트 핵심 구성 요소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35000" y="6680200"/>
            <a:ext cx="4356100" cy="977900"/>
          </a:xfrm>
          <a:prstGeom prst="rect">
            <a:avLst/>
          </a:prstGeom>
        </p:spPr>
        <p:txBody>
          <a:bodyPr lIns="0" tIns="34778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547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핵심 구성요소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5000" y="8343900"/>
            <a:ext cx="9880600" cy="4584700"/>
          </a:xfrm>
          <a:prstGeom prst="rect">
            <a:avLst/>
          </a:prstGeom>
        </p:spPr>
        <p:txBody>
          <a:bodyPr lIns="0" tIns="34778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547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지시(INSTRUCTION)</a:t>
            </a:r>
          </a:p>
          <a:p>
            <a:pPr lvl="0" algn="l">
              <a:lnSpc>
                <a:spcPct val="107899"/>
              </a:lnSpc>
            </a:pPr>
            <a:r>
              <a:rPr lang="en-US" sz="547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맥락(CONTEXT)</a:t>
            </a:r>
          </a:p>
          <a:p>
            <a:pPr lvl="0" algn="l">
              <a:lnSpc>
                <a:spcPct val="107899"/>
              </a:lnSpc>
            </a:pPr>
            <a:r>
              <a:rPr lang="en-US" sz="547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입력(INPUT DATA)</a:t>
            </a:r>
          </a:p>
          <a:p>
            <a:pPr lvl="0" algn="l">
              <a:lnSpc>
                <a:spcPct val="107899"/>
              </a:lnSpc>
            </a:pPr>
            <a:r>
              <a:rPr lang="en-US" sz="547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제약조건(CONSTRAINT)</a:t>
            </a:r>
          </a:p>
          <a:p>
            <a:pPr lvl="0" algn="l">
              <a:lnSpc>
                <a:spcPct val="107899"/>
              </a:lnSpc>
            </a:pPr>
            <a:r>
              <a:rPr lang="en-US" sz="547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출력 형식(OUTPUT FORMAT)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12400" y="6680200"/>
            <a:ext cx="4356100" cy="977900"/>
          </a:xfrm>
          <a:prstGeom prst="rect">
            <a:avLst/>
          </a:prstGeom>
        </p:spPr>
        <p:txBody>
          <a:bodyPr lIns="0" tIns="34778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547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설명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655300" y="8343900"/>
            <a:ext cx="9880600" cy="4584700"/>
          </a:xfrm>
          <a:prstGeom prst="rect">
            <a:avLst/>
          </a:prstGeom>
        </p:spPr>
        <p:txBody>
          <a:bodyPr lIns="0" tIns="34778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547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명확한 작업 지시와 요구사항 전달</a:t>
            </a:r>
          </a:p>
          <a:p>
            <a:pPr lvl="0" algn="l">
              <a:lnSpc>
                <a:spcPct val="107899"/>
              </a:lnSpc>
            </a:pPr>
            <a:r>
              <a:rPr lang="en-US" sz="547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배경 정보와 관련 상황 제공</a:t>
            </a:r>
          </a:p>
          <a:p>
            <a:pPr lvl="0" algn="l">
              <a:lnSpc>
                <a:spcPct val="107899"/>
              </a:lnSpc>
            </a:pPr>
            <a:r>
              <a:rPr lang="en-US" sz="547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처리할 구체적인 데이터</a:t>
            </a:r>
          </a:p>
          <a:p>
            <a:pPr lvl="0" algn="l">
              <a:lnSpc>
                <a:spcPct val="107899"/>
              </a:lnSpc>
            </a:pPr>
            <a:r>
              <a:rPr lang="en-US" sz="547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생성 결과물의 제한사항 설정</a:t>
            </a:r>
          </a:p>
          <a:p>
            <a:pPr lvl="0" algn="l">
              <a:lnSpc>
                <a:spcPct val="107899"/>
              </a:lnSpc>
            </a:pPr>
            <a:r>
              <a:rPr lang="en-US" sz="547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원하는 결과물의 형태 지정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700" y="7289800"/>
            <a:ext cx="22720300" cy="838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700" y="7289800"/>
            <a:ext cx="22720300" cy="838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700" y="6146800"/>
            <a:ext cx="22720300" cy="838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6883400" y="9499600"/>
            <a:ext cx="66929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1900" y="2451100"/>
            <a:ext cx="17640300" cy="1778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676400" y="457200"/>
            <a:ext cx="21005800" cy="16637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01. 프롬프트 엔지니어링의 정의와 중요성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82900" y="2717800"/>
            <a:ext cx="16891000" cy="1244600"/>
          </a:xfrm>
          <a:prstGeom prst="rect">
            <a:avLst/>
          </a:prstGeom>
        </p:spPr>
        <p:txBody>
          <a:bodyPr lIns="0" tIns="0" rIns="0" bIns="88526" rtlCol="0" anchor="b"/>
          <a:lstStyle/>
          <a:p>
            <a:pPr lvl="0" algn="ctr">
              <a:lnSpc>
                <a:spcPct val="99600"/>
              </a:lnSpc>
            </a:pPr>
            <a:r>
              <a:rPr lang="en-US" sz="6970" b="0" i="0" u="none" strike="noStrike">
                <a:solidFill>
                  <a:srgbClr val="FFFFFF"/>
                </a:solidFill>
                <a:latin typeface="Gong Gothic Light"/>
                <a:ea typeface="Gong Gothic Light"/>
                <a:cs typeface="Gong Gothic Light"/>
              </a:rPr>
              <a:t>프롬프트 엔지니어링의 중요성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35000" y="4749800"/>
            <a:ext cx="8839200" cy="977900"/>
          </a:xfrm>
          <a:prstGeom prst="rect">
            <a:avLst/>
          </a:prstGeom>
        </p:spPr>
        <p:txBody>
          <a:bodyPr lIns="0" tIns="34778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547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1) 과정과 결과의 최적화 목표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5000" y="6502400"/>
            <a:ext cx="9880600" cy="3683000"/>
          </a:xfrm>
          <a:prstGeom prst="rect">
            <a:avLst/>
          </a:prstGeom>
        </p:spPr>
        <p:txBody>
          <a:bodyPr lIns="0" tIns="34778" rIns="0" bIns="0" rtlCol="0" anchor="t"/>
          <a:lstStyle/>
          <a:p>
            <a:pPr marL="342900" lvl="1" indent="-342900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547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AI 모델 활용 효율성 극대화</a:t>
            </a:r>
          </a:p>
          <a:p>
            <a:pPr marL="342900" lvl="1" indent="-342900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547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결과물의 정확도와 품질 향상</a:t>
            </a:r>
          </a:p>
          <a:p>
            <a:pPr marL="342900" lvl="1" indent="-342900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547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불필요한 반복 작업 감소</a:t>
            </a:r>
          </a:p>
          <a:p>
            <a:pPr marL="342900" lvl="1" indent="-342900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547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리소스 사용 효율성 증대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807700" y="4749800"/>
            <a:ext cx="7581900" cy="977900"/>
          </a:xfrm>
          <a:prstGeom prst="rect">
            <a:avLst/>
          </a:prstGeom>
        </p:spPr>
        <p:txBody>
          <a:bodyPr lIns="0" tIns="34778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547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2) 좋은 프롬프트의 특징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18800" y="6502400"/>
            <a:ext cx="13487400" cy="3683000"/>
          </a:xfrm>
          <a:prstGeom prst="rect">
            <a:avLst/>
          </a:prstGeom>
        </p:spPr>
        <p:txBody>
          <a:bodyPr lIns="0" tIns="34778" rIns="0" bIns="0" rtlCol="0" anchor="t"/>
          <a:lstStyle/>
          <a:p>
            <a:pPr marL="342900" lvl="1" indent="-342900" algn="l">
              <a:lnSpc>
                <a:spcPct val="107899"/>
              </a:lnSpc>
              <a:buAutoNum type="arabicPeriod"/>
            </a:pPr>
            <a:r>
              <a:rPr lang="en-US" sz="547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명확성: 모호하지 않은 구체적인 지시</a:t>
            </a:r>
          </a:p>
          <a:p>
            <a:pPr marL="342900" lvl="1" indent="-342900" algn="l">
              <a:lnSpc>
                <a:spcPct val="107899"/>
              </a:lnSpc>
              <a:buAutoNum type="arabicPeriod"/>
            </a:pPr>
            <a:r>
              <a:rPr lang="en-US" sz="547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구조화: 체계적으로 구성된 입력 형태</a:t>
            </a:r>
          </a:p>
          <a:p>
            <a:pPr marL="342900" lvl="1" indent="-342900" algn="l">
              <a:lnSpc>
                <a:spcPct val="107899"/>
              </a:lnSpc>
              <a:buAutoNum type="arabicPeriod"/>
            </a:pPr>
            <a:r>
              <a:rPr lang="en-US" sz="547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맥락성: 충분한 배경 정보 제공</a:t>
            </a:r>
          </a:p>
          <a:p>
            <a:pPr marL="342900" lvl="1" indent="-342900" algn="l">
              <a:lnSpc>
                <a:spcPct val="107899"/>
              </a:lnSpc>
              <a:buAutoNum type="arabicPeriod"/>
            </a:pPr>
            <a:r>
              <a:rPr lang="en-US" sz="547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목적성: 원하는 결과에 대한 명확한 방향성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200" y="3302000"/>
            <a:ext cx="21424900" cy="8153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7670800"/>
            <a:ext cx="1282700" cy="129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905000" y="4622800"/>
            <a:ext cx="20002500" cy="8216900"/>
          </a:xfrm>
          <a:prstGeom prst="rect">
            <a:avLst/>
          </a:prstGeom>
        </p:spPr>
        <p:txBody>
          <a:bodyPr lIns="0" tIns="270932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14696" b="0" i="0" u="none" strike="noStrike" spc="-8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02. AI가 이해하기 위한 자연어 분석의 이해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463800" y="2082800"/>
            <a:ext cx="8178800" cy="16637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학습 목표 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959100" y="5600700"/>
            <a:ext cx="4013200" cy="825500"/>
          </a:xfrm>
          <a:prstGeom prst="rect">
            <a:avLst/>
          </a:prstGeom>
        </p:spPr>
        <p:txBody>
          <a:bodyPr lIns="0" tIns="27940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Heebo ExtraBold"/>
                <a:ea typeface="Heebo ExtraBold"/>
                <a:cs typeface="Heebo ExtraBold"/>
              </a:rPr>
              <a:t>Content 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01000" y="5727700"/>
            <a:ext cx="12814300" cy="7112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999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AI가 인간의 언어를 이해하는 NLP를 알 수 있다.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27400" y="8470900"/>
            <a:ext cx="3276600" cy="825500"/>
          </a:xfrm>
          <a:prstGeom prst="rect">
            <a:avLst/>
          </a:prstGeom>
        </p:spPr>
        <p:txBody>
          <a:bodyPr lIns="0" tIns="27940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Heebo ExtraBold"/>
                <a:ea typeface="Heebo ExtraBold"/>
                <a:cs typeface="Heebo ExtraBold"/>
              </a:rPr>
              <a:t>Content 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01000" y="8559800"/>
            <a:ext cx="12814300" cy="7112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999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효과적인 프롬프트 기법을 알 수 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311400"/>
            <a:ext cx="20218400" cy="9512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863600"/>
            <a:ext cx="18440400" cy="7899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76300"/>
            <a:ext cx="18961100" cy="8674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6324600"/>
            <a:ext cx="1219200" cy="1054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0" y="8839200"/>
            <a:ext cx="15760700" cy="4584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495300"/>
            <a:ext cx="17691100" cy="8763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400" y="7251700"/>
            <a:ext cx="1219200" cy="1054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8200" y="9461500"/>
            <a:ext cx="123571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0" y="1219200"/>
            <a:ext cx="22809200" cy="9347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0" y="558800"/>
            <a:ext cx="11112500" cy="5245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00" y="8661400"/>
            <a:ext cx="12192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00" y="546100"/>
            <a:ext cx="19062700" cy="9740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1500" y="9359900"/>
            <a:ext cx="14541500" cy="3860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816100" y="495300"/>
            <a:ext cx="16573500" cy="28448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02. 효과적인 프롬프트 구조화와 최적화 기법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00" y="3937000"/>
            <a:ext cx="13068300" cy="7696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92100" y="6731000"/>
            <a:ext cx="10756900" cy="5664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7400" y="6032500"/>
            <a:ext cx="9626600" cy="5194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0" y="5092700"/>
            <a:ext cx="12230100" cy="64897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816100" y="495300"/>
            <a:ext cx="16573500" cy="28448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02. 효과적인 프롬프트 구조화와 최적화 기법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16100" y="495300"/>
            <a:ext cx="16573500" cy="28448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02. 효과적인 프롬프트 구조화와 최적화 기법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3644900"/>
            <a:ext cx="13881100" cy="6426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57000" y="9715500"/>
            <a:ext cx="10883900" cy="33401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16100" y="495300"/>
            <a:ext cx="16573500" cy="28448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02. 효과적인 프롬프트 구조화와 최적화 기법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3949700"/>
            <a:ext cx="13347700" cy="6591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5400" y="9207500"/>
            <a:ext cx="10401300" cy="38481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16100" y="495300"/>
            <a:ext cx="16573500" cy="28448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02. 효과적인 프롬프트 구조화와 최적화 기법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3619500"/>
            <a:ext cx="13360400" cy="5638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66500" y="7467600"/>
            <a:ext cx="11061700" cy="56007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16100" y="495300"/>
            <a:ext cx="16573500" cy="28448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02. 효과적인 프롬프트 구조화와 최적화 기법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40100"/>
            <a:ext cx="12966700" cy="7251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0" y="7416800"/>
            <a:ext cx="12192000" cy="4673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16100" y="495300"/>
            <a:ext cx="16573500" cy="16637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03. 프롬프트 패턴과 안티패턴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41700"/>
            <a:ext cx="10058400" cy="9613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3400" y="5168900"/>
            <a:ext cx="13690600" cy="6680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5074900" y="9207500"/>
            <a:ext cx="2616200" cy="6985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3963" b="0" i="0" u="none" strike="noStrike" spc="-3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예시O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455900" y="10579100"/>
            <a:ext cx="2387600" cy="6477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3617" b="0" i="0" u="none" strike="noStrike" spc="-2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예시X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586200" y="7670800"/>
            <a:ext cx="3073400" cy="8255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4666" b="0" i="0" u="none" strike="noStrike" spc="-3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생각의 사슬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16100" y="495300"/>
            <a:ext cx="16573500" cy="16637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03. 프롬프트 패턴과 안티패턴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40100"/>
            <a:ext cx="15367000" cy="8229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0100" y="4991100"/>
            <a:ext cx="15748000" cy="7404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876800" y="5105400"/>
            <a:ext cx="14706600" cy="5486400"/>
          </a:xfrm>
          <a:prstGeom prst="rect">
            <a:avLst/>
          </a:prstGeom>
        </p:spPr>
        <p:txBody>
          <a:bodyPr lIns="0" tIns="270932" rIns="0" bIns="0" rtlCol="0" anchor="t"/>
          <a:lstStyle/>
          <a:p>
            <a:pPr lvl="0" algn="ctr">
              <a:lnSpc>
                <a:spcPct val="83000"/>
              </a:lnSpc>
            </a:pPr>
            <a:r>
              <a:rPr lang="en-US" sz="14696" b="0" i="0" u="none" strike="noStrike" spc="-800" dirty="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03. </a:t>
            </a:r>
            <a:r>
              <a:rPr lang="en-US" sz="14696" b="0" i="0" u="none" strike="noStrike" spc="-800" dirty="0" err="1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프롬프트</a:t>
            </a:r>
            <a:r>
              <a:rPr lang="en-US" sz="14696" b="0" i="0" u="none" strike="noStrike" spc="-800" dirty="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 </a:t>
            </a:r>
            <a:r>
              <a:rPr lang="en-US" sz="14696" b="0" i="0" u="none" strike="noStrike" spc="-800" dirty="0" err="1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작성</a:t>
            </a:r>
            <a:endParaRPr lang="en-US" sz="14696" b="0" i="0" u="none" strike="noStrike" spc="-800" dirty="0">
              <a:solidFill>
                <a:srgbClr val="000000"/>
              </a:solidFill>
              <a:latin typeface="Gong Gothic Bold"/>
              <a:ea typeface="Gong Gothic Bold"/>
              <a:cs typeface="Gong Gothic Bold"/>
            </a:endParaRPr>
          </a:p>
          <a:p>
            <a:pPr lvl="0" algn="ctr">
              <a:lnSpc>
                <a:spcPct val="83000"/>
              </a:lnSpc>
            </a:pPr>
            <a:r>
              <a:rPr lang="en-US" sz="14696" b="0" i="0" u="none" strike="noStrike" spc="-800" dirty="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 </a:t>
            </a:r>
            <a:r>
              <a:rPr lang="en-US" sz="14696" b="0" i="0" u="none" strike="noStrike" spc="-800" dirty="0" err="1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기본원칙</a:t>
            </a:r>
            <a:r>
              <a:rPr lang="en-US" sz="14696" b="0" i="0" u="none" strike="noStrike" spc="-800" dirty="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 </a:t>
            </a:r>
            <a:r>
              <a:rPr lang="en-US" sz="14696" b="0" i="0" u="none" strike="noStrike" spc="-800" dirty="0" err="1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이해</a:t>
            </a:r>
            <a:endParaRPr lang="en-US" sz="14696" b="0" i="0" u="none" strike="noStrike" spc="-800" dirty="0">
              <a:solidFill>
                <a:srgbClr val="000000"/>
              </a:solidFill>
              <a:latin typeface="Gong Gothic Bold"/>
              <a:ea typeface="Gong Gothic Bold"/>
              <a:cs typeface="Gong Gothic Bol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463800" y="2082800"/>
            <a:ext cx="8178800" cy="16637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학습 목표 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57500" y="7200900"/>
            <a:ext cx="4013200" cy="825500"/>
          </a:xfrm>
          <a:prstGeom prst="rect">
            <a:avLst/>
          </a:prstGeom>
        </p:spPr>
        <p:txBody>
          <a:bodyPr lIns="0" tIns="27940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Heebo ExtraBold"/>
                <a:ea typeface="Heebo ExtraBold"/>
                <a:cs typeface="Heebo ExtraBold"/>
              </a:rPr>
              <a:t>Content 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912100" y="7315200"/>
            <a:ext cx="12814300" cy="7112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999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생성형 AI에 사용하는 프롬프트의 원칙을 알 수 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270000" y="4432300"/>
            <a:ext cx="12928600" cy="16637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명확성의 핵심 원칙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44600" y="7658100"/>
            <a:ext cx="13322300" cy="2476500"/>
          </a:xfrm>
          <a:prstGeom prst="rect">
            <a:avLst/>
          </a:prstGeom>
        </p:spPr>
        <p:txBody>
          <a:bodyPr lIns="0" tIns="18626" rIns="0" bIns="0" rtlCol="0" anchor="t"/>
          <a:lstStyle/>
          <a:p>
            <a:pPr marL="342900" lvl="1" indent="-342900" algn="l">
              <a:lnSpc>
                <a:spcPct val="107899"/>
              </a:lnSpc>
              <a:buAutoNum type="arabicPeriod"/>
            </a:pPr>
            <a:r>
              <a:rPr lang="en-US" sz="3671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모호함 제거 - AI가 추측할 여지를 최소화</a:t>
            </a:r>
          </a:p>
          <a:p>
            <a:pPr marL="342900" lvl="1" indent="-342900" algn="l">
              <a:lnSpc>
                <a:spcPct val="107899"/>
              </a:lnSpc>
              <a:buAutoNum type="arabicPeriod"/>
            </a:pPr>
            <a:r>
              <a:rPr lang="en-US" sz="3671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직접적 지시 - 원하는 작업을 명시적으로 표현</a:t>
            </a:r>
          </a:p>
          <a:p>
            <a:pPr marL="342900" lvl="1" indent="-342900" algn="l">
              <a:lnSpc>
                <a:spcPct val="107899"/>
              </a:lnSpc>
              <a:buAutoNum type="arabicPeriod"/>
            </a:pPr>
            <a:r>
              <a:rPr lang="en-US" sz="3671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일관된 용어 - 동일한 개념에 동일한 용어 사용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70000" y="6413500"/>
            <a:ext cx="13271500" cy="825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672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명확성의 의미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08200" y="1028700"/>
            <a:ext cx="14224000" cy="16637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01. 명확성과 구체성의 원칙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928600" y="7251700"/>
            <a:ext cx="9448800" cy="4394200"/>
          </a:xfrm>
          <a:prstGeom prst="rect">
            <a:avLst/>
          </a:prstGeom>
        </p:spPr>
        <p:txBody>
          <a:bodyPr lIns="0" tIns="18626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명확성이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지켜지지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않은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케이스</a:t>
            </a:r>
            <a:endParaRPr lang="en-US" sz="2933" b="0" i="0" u="none" strike="noStrike" dirty="0">
              <a:solidFill>
                <a:srgbClr val="000000"/>
              </a:solidFill>
              <a:latin typeface="Gong Gothic Light"/>
              <a:ea typeface="Gong Gothic Light"/>
              <a:cs typeface="Gong Gothic Light"/>
            </a:endParaRPr>
          </a:p>
          <a:p>
            <a:pPr lvl="0" algn="l">
              <a:lnSpc>
                <a:spcPct val="1078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-5년만에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만나는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친구에게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할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인사말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생성</a:t>
            </a:r>
            <a:endParaRPr lang="en-US" sz="2933" b="0" i="0" u="none" strike="noStrike" dirty="0">
              <a:solidFill>
                <a:srgbClr val="000000"/>
              </a:solidFill>
              <a:latin typeface="Gong Gothic Light"/>
              <a:ea typeface="Gong Gothic Light"/>
              <a:cs typeface="Gong Gothic Light"/>
            </a:endParaRPr>
          </a:p>
          <a:p>
            <a:pPr lvl="0" algn="l">
              <a:lnSpc>
                <a:spcPct val="107899"/>
              </a:lnSpc>
            </a:pPr>
            <a:endParaRPr lang="en-US" sz="2933" b="0" i="0" u="none" strike="noStrike" dirty="0">
              <a:solidFill>
                <a:srgbClr val="000000"/>
              </a:solidFill>
              <a:latin typeface="Gong Gothic Light"/>
              <a:ea typeface="Gong Gothic Light"/>
              <a:cs typeface="Gong Gothic Light"/>
            </a:endParaRPr>
          </a:p>
          <a:p>
            <a:pPr lvl="0" algn="l">
              <a:lnSpc>
                <a:spcPct val="107899"/>
              </a:lnSpc>
            </a:pP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명확성이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지켜진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케이스</a:t>
            </a:r>
            <a:endParaRPr lang="en-US" sz="2933" b="0" i="0" u="none" strike="noStrike" dirty="0">
              <a:solidFill>
                <a:srgbClr val="000000"/>
              </a:solidFill>
              <a:latin typeface="Gong Gothic Light"/>
              <a:ea typeface="Gong Gothic Light"/>
              <a:cs typeface="Gong Gothic Light"/>
            </a:endParaRPr>
          </a:p>
          <a:p>
            <a:pPr lvl="0" algn="l">
              <a:lnSpc>
                <a:spcPct val="1078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-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대학교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친한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동기와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5년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만에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커피숍에서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재회하게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되었어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. </a:t>
            </a:r>
          </a:p>
          <a:p>
            <a:pPr lvl="0" algn="l">
              <a:lnSpc>
                <a:spcPct val="1078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-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과거에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함께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한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추억이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많으며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,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서로의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근황이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궁금한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상태야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.</a:t>
            </a:r>
          </a:p>
          <a:p>
            <a:pPr lvl="0" algn="l">
              <a:lnSpc>
                <a:spcPct val="1078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-이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상황에서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자연스럽고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따뜻한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첫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인사말을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작성해줘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.</a:t>
            </a:r>
          </a:p>
          <a:p>
            <a:pPr lvl="0" algn="l">
              <a:lnSpc>
                <a:spcPct val="1078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-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인사말에는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반가움과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함깨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과거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추억에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대한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언급이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포함되면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좋겠어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.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말투는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친근하고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 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캐주얼하게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작성해줘</a:t>
            </a:r>
            <a:r>
              <a:rPr lang="en-US" sz="2933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270000" y="4432300"/>
            <a:ext cx="12928600" cy="16637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구체성의 핵심 원칙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44600" y="8216900"/>
            <a:ext cx="13614400" cy="2527300"/>
          </a:xfrm>
          <a:prstGeom prst="rect">
            <a:avLst/>
          </a:prstGeom>
        </p:spPr>
        <p:txBody>
          <a:bodyPr lIns="0" tIns="18626" rIns="0" bIns="0" rtlCol="0" anchor="t"/>
          <a:lstStyle/>
          <a:p>
            <a:pPr marL="342900" lvl="1" indent="-342900" algn="l">
              <a:lnSpc>
                <a:spcPct val="107899"/>
              </a:lnSpc>
              <a:buAutoNum type="arabicPeriod"/>
            </a:pPr>
            <a:r>
              <a:rPr lang="en-US" sz="3754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상세한</a:t>
            </a:r>
            <a:r>
              <a:rPr lang="en-US" sz="3754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3754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정보</a:t>
            </a:r>
            <a:r>
              <a:rPr lang="en-US" sz="3754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3754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제공</a:t>
            </a:r>
            <a:r>
              <a:rPr lang="en-US" sz="3754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- </a:t>
            </a:r>
            <a:r>
              <a:rPr lang="en-US" sz="3754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AI가</a:t>
            </a:r>
            <a:r>
              <a:rPr lang="en-US" sz="3754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3754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정확한</a:t>
            </a:r>
            <a:r>
              <a:rPr lang="en-US" sz="3754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3754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맥락을</a:t>
            </a:r>
            <a:r>
              <a:rPr lang="en-US" sz="3754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3754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파악할</a:t>
            </a:r>
            <a:r>
              <a:rPr lang="en-US" sz="3754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수 </a:t>
            </a:r>
            <a:r>
              <a:rPr lang="en-US" sz="3754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있도록</a:t>
            </a:r>
            <a:endParaRPr lang="en-US" sz="3754" b="0" i="0" u="none" strike="noStrike" dirty="0">
              <a:solidFill>
                <a:srgbClr val="000000"/>
              </a:solidFill>
              <a:latin typeface="Gong Gothic Light"/>
              <a:ea typeface="Gong Gothic Light"/>
              <a:cs typeface="Gong Gothic Light"/>
            </a:endParaRPr>
          </a:p>
          <a:p>
            <a:pPr marL="342900" lvl="1" indent="-342900" algn="l">
              <a:lnSpc>
                <a:spcPct val="107899"/>
              </a:lnSpc>
              <a:buAutoNum type="arabicPeriod"/>
            </a:pPr>
            <a:r>
              <a:rPr lang="en-US" sz="3754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정량적</a:t>
            </a:r>
            <a:r>
              <a:rPr lang="en-US" sz="3754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3754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표현</a:t>
            </a:r>
            <a:r>
              <a:rPr lang="en-US" sz="3754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- </a:t>
            </a:r>
            <a:r>
              <a:rPr lang="en-US" sz="3754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숫자</a:t>
            </a:r>
            <a:r>
              <a:rPr lang="en-US" sz="3754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, </a:t>
            </a:r>
            <a:r>
              <a:rPr lang="en-US" sz="3754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단위</a:t>
            </a:r>
            <a:r>
              <a:rPr lang="en-US" sz="3754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등 </a:t>
            </a:r>
            <a:r>
              <a:rPr lang="en-US" sz="3754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측정</a:t>
            </a:r>
            <a:r>
              <a:rPr lang="en-US" sz="3754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ko-KR" altLang="en-US" sz="3754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가능</a:t>
            </a:r>
            <a:r>
              <a:rPr lang="en-US" sz="3754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한 </a:t>
            </a:r>
            <a:r>
              <a:rPr lang="en-US" sz="3754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기준</a:t>
            </a:r>
            <a:r>
              <a:rPr lang="en-US" sz="3754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3754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제시</a:t>
            </a:r>
            <a:endParaRPr lang="en-US" sz="3754" b="0" i="0" u="none" strike="noStrike" dirty="0">
              <a:solidFill>
                <a:srgbClr val="000000"/>
              </a:solidFill>
              <a:latin typeface="Gong Gothic Light"/>
              <a:ea typeface="Gong Gothic Light"/>
              <a:cs typeface="Gong Gothic Light"/>
            </a:endParaRPr>
          </a:p>
          <a:p>
            <a:pPr marL="342900" lvl="1" indent="-342900" algn="l">
              <a:lnSpc>
                <a:spcPct val="107899"/>
              </a:lnSpc>
              <a:buAutoNum type="arabicPeriod"/>
            </a:pPr>
            <a:r>
              <a:rPr lang="en-US" sz="3754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예시와</a:t>
            </a:r>
            <a:r>
              <a:rPr lang="en-US" sz="3754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3754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사례</a:t>
            </a:r>
            <a:r>
              <a:rPr lang="en-US" sz="3754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- </a:t>
            </a:r>
            <a:r>
              <a:rPr lang="en-US" sz="3754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추상적</a:t>
            </a:r>
            <a:r>
              <a:rPr lang="en-US" sz="3754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3754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개념의</a:t>
            </a:r>
            <a:r>
              <a:rPr lang="en-US" sz="3754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3754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구체화</a:t>
            </a:r>
            <a:endParaRPr lang="en-US" sz="3754" b="0" i="0" u="none" strike="noStrike" dirty="0">
              <a:solidFill>
                <a:srgbClr val="000000"/>
              </a:solidFill>
              <a:latin typeface="Gong Gothic Light"/>
              <a:ea typeface="Gong Gothic Light"/>
              <a:cs typeface="Gong Gothic Ligh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70000" y="6946900"/>
            <a:ext cx="13576300" cy="850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778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구체성의 의미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08200" y="1028700"/>
            <a:ext cx="14224000" cy="16637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01. 명확성과 구체성의 원칙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309600" y="5257800"/>
            <a:ext cx="10553700" cy="4394200"/>
          </a:xfrm>
          <a:prstGeom prst="rect">
            <a:avLst/>
          </a:prstGeom>
        </p:spPr>
        <p:txBody>
          <a:bodyPr lIns="0" tIns="18626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구체성이 지켜지지 않은 케이스</a:t>
            </a:r>
          </a:p>
          <a:p>
            <a:pPr lvl="0" algn="l">
              <a:lnSpc>
                <a:spcPct val="1078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- 5년만에 만나는 친구에게 할 인사말 생성</a:t>
            </a:r>
          </a:p>
          <a:p>
            <a:pPr lvl="0" algn="l">
              <a:lnSpc>
                <a:spcPct val="1078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구체성이 지켜진 케이스</a:t>
            </a:r>
          </a:p>
          <a:p>
            <a:pPr lvl="0" algn="l">
              <a:lnSpc>
                <a:spcPct val="1078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-대학교 시절 같은 동아리에서 활동했던 친한 친구와 5년 만에 서울 강남의 한 카페에서 만나기로 했어.</a:t>
            </a:r>
          </a:p>
          <a:p>
            <a:pPr lvl="0" algn="l">
              <a:lnSpc>
                <a:spcPct val="1078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-이 친구는 5년 전 해외 취업으로 한국을 떠났고, 지금은 휴가 차 잠시 귀국한 상태야.</a:t>
            </a:r>
          </a:p>
          <a:p>
            <a:pPr lvl="0" algn="l">
              <a:lnSpc>
                <a:spcPct val="1078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-대학 시절 밤새 과제하며 서로 응원했던 추억이 있고, 특히 마지막 동아리 공연에서 함께 3시간 내내 무대에 섰던 기억이 특별해.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778000" y="1028700"/>
            <a:ext cx="15557500" cy="16637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02. 맥락 정보와 제약조건 설정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4241800"/>
            <a:ext cx="17881600" cy="72771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778000" y="1028700"/>
            <a:ext cx="15557500" cy="16637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02. 맥락 정보와 제약조건 설정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00" y="4140200"/>
            <a:ext cx="17068800" cy="85217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270000" y="5549900"/>
            <a:ext cx="22364700" cy="2616200"/>
          </a:xfrm>
          <a:prstGeom prst="rect">
            <a:avLst/>
          </a:prstGeom>
        </p:spPr>
        <p:txBody>
          <a:bodyPr lIns="0" tIns="270932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14696" b="0" i="0" u="none" strike="noStrike" spc="-8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04. 프롬프트 설계전략 수립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463800" y="2082800"/>
            <a:ext cx="8178800" cy="16637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학습 목표 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959100" y="5600700"/>
            <a:ext cx="4013200" cy="825500"/>
          </a:xfrm>
          <a:prstGeom prst="rect">
            <a:avLst/>
          </a:prstGeom>
        </p:spPr>
        <p:txBody>
          <a:bodyPr lIns="0" tIns="27940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Heebo ExtraBold"/>
                <a:ea typeface="Heebo ExtraBold"/>
                <a:cs typeface="Heebo ExtraBold"/>
              </a:rPr>
              <a:t>Content 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01000" y="5727700"/>
            <a:ext cx="12814300" cy="7112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999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프롬프트 엔지니어링을 위한 전략을 알 수 있다.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27400" y="8470900"/>
            <a:ext cx="3276600" cy="825500"/>
          </a:xfrm>
          <a:prstGeom prst="rect">
            <a:avLst/>
          </a:prstGeom>
        </p:spPr>
        <p:txBody>
          <a:bodyPr lIns="0" tIns="27940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Heebo ExtraBold"/>
                <a:ea typeface="Heebo ExtraBold"/>
                <a:cs typeface="Heebo ExtraBold"/>
              </a:rPr>
              <a:t>Content 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01000" y="8559800"/>
            <a:ext cx="12814300" cy="7112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999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목적에 맞는 프롬프트 설계와 역설계를 알 수 있다.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5163800" y="3340100"/>
            <a:ext cx="9512300" cy="11176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6297" b="0" i="0" u="none" strike="noStrike" spc="-40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프롬프트 핵심 구성요소 이해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7200" y="4254500"/>
            <a:ext cx="14325600" cy="3340100"/>
          </a:xfrm>
          <a:prstGeom prst="rect">
            <a:avLst/>
          </a:prstGeom>
        </p:spPr>
        <p:txBody>
          <a:bodyPr lIns="0" tIns="29136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981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프롬프트의 기본 구조:  지시 = 시킬 일</a:t>
            </a:r>
          </a:p>
          <a:p>
            <a:pPr lvl="0" algn="l">
              <a:lnSpc>
                <a:spcPct val="107899"/>
              </a:lnSpc>
            </a:pPr>
            <a:r>
              <a:rPr lang="en-US" sz="3981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효과적인 지시 작성 원칙</a:t>
            </a:r>
          </a:p>
          <a:p>
            <a:pPr lvl="0" algn="l">
              <a:lnSpc>
                <a:spcPct val="107899"/>
              </a:lnSpc>
            </a:pPr>
            <a:r>
              <a:rPr lang="en-US" sz="3981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1. 행동 지향적 동사 사용: '분석하라', '요역하라' 등 명확한 행동 지시</a:t>
            </a:r>
          </a:p>
          <a:p>
            <a:pPr lvl="0" algn="l">
              <a:lnSpc>
                <a:spcPct val="107899"/>
              </a:lnSpc>
            </a:pPr>
            <a:r>
              <a:rPr lang="en-US" sz="3981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2. 단일 작업 중심: 복합 작업은 개별 지시로 분할</a:t>
            </a:r>
          </a:p>
          <a:p>
            <a:pPr lvl="0" algn="l">
              <a:lnSpc>
                <a:spcPct val="107899"/>
              </a:lnSpc>
            </a:pPr>
            <a:r>
              <a:rPr lang="en-US" sz="3981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3. 우선순위 명시: 여러 요구사항 간 중요도 표시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455900" y="4457700"/>
            <a:ext cx="106172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999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지시, 맥락, 입력, 출력 형식, 제약 조건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7200" y="7886700"/>
            <a:ext cx="15786100" cy="2527300"/>
          </a:xfrm>
          <a:prstGeom prst="rect">
            <a:avLst/>
          </a:prstGeom>
        </p:spPr>
        <p:txBody>
          <a:bodyPr lIns="0" tIns="29136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755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개념</a:t>
            </a:r>
          </a:p>
          <a:p>
            <a:pPr lvl="0" algn="l">
              <a:lnSpc>
                <a:spcPct val="107899"/>
              </a:lnSpc>
            </a:pPr>
            <a:r>
              <a:rPr lang="en-US" sz="3755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-인공지능이 수행해야 할 명확한 작업과 목표를 구체적으로 명시하는 요소</a:t>
            </a:r>
          </a:p>
          <a:p>
            <a:pPr lvl="0" algn="l">
              <a:lnSpc>
                <a:spcPct val="107899"/>
              </a:lnSpc>
            </a:pPr>
            <a:r>
              <a:rPr lang="en-US" sz="3755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작성할 프롬프트 주제</a:t>
            </a:r>
          </a:p>
          <a:p>
            <a:pPr lvl="0" algn="l">
              <a:lnSpc>
                <a:spcPct val="107899"/>
              </a:lnSpc>
            </a:pPr>
            <a:r>
              <a:rPr lang="en-US" sz="3755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-AI로 자기소개서 작성하기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78000" y="1028700"/>
            <a:ext cx="18224500" cy="16637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01. 프롬프트 전략 수립의 기본 원칙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7200" y="10934700"/>
            <a:ext cx="13512800" cy="1905000"/>
          </a:xfrm>
          <a:prstGeom prst="rect">
            <a:avLst/>
          </a:prstGeom>
        </p:spPr>
        <p:txBody>
          <a:bodyPr lIns="0" tIns="29136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755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지시 예</a:t>
            </a:r>
          </a:p>
          <a:p>
            <a:pPr lvl="0" algn="l">
              <a:lnSpc>
                <a:spcPct val="107899"/>
              </a:lnSpc>
            </a:pPr>
            <a:r>
              <a:rPr lang="en-US" sz="3755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-너는 고등학생들의 자기소개서 작성을 돕는 전문가야.</a:t>
            </a:r>
          </a:p>
          <a:p>
            <a:pPr lvl="0" algn="l">
              <a:lnSpc>
                <a:spcPct val="107899"/>
              </a:lnSpc>
            </a:pPr>
            <a:r>
              <a:rPr lang="en-US" sz="3755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-취업준비생들이 효과적인 자기소개서를 작성할 수 있도록 도와줘.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117600" y="5384800"/>
            <a:ext cx="21234400" cy="6121400"/>
          </a:xfrm>
          <a:prstGeom prst="rect">
            <a:avLst/>
          </a:prstGeom>
        </p:spPr>
        <p:txBody>
          <a:bodyPr lIns="0" tIns="29136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4588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프롬프트의 기본 구조: 맥락 = 지금 상황</a:t>
            </a:r>
          </a:p>
          <a:p>
            <a:pPr lvl="0" algn="l">
              <a:lnSpc>
                <a:spcPct val="107899"/>
              </a:lnSpc>
            </a:pPr>
            <a:r>
              <a:rPr lang="en-US" sz="4588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개념</a:t>
            </a:r>
          </a:p>
          <a:p>
            <a:pPr lvl="0" algn="l">
              <a:lnSpc>
                <a:spcPct val="107899"/>
              </a:lnSpc>
            </a:pPr>
            <a:r>
              <a:rPr lang="en-US" sz="4588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-인공지능이 응답을 생성할 때 고려해야 할 배경 정보와 상황적 맥락을 제공하는 요소</a:t>
            </a:r>
          </a:p>
          <a:p>
            <a:pPr lvl="0" algn="l">
              <a:lnSpc>
                <a:spcPct val="107899"/>
              </a:lnSpc>
            </a:pPr>
            <a:r>
              <a:rPr lang="en-US" sz="4588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작성할 프롬프트 주제</a:t>
            </a:r>
          </a:p>
          <a:p>
            <a:pPr lvl="0" algn="l">
              <a:lnSpc>
                <a:spcPct val="107899"/>
              </a:lnSpc>
            </a:pPr>
            <a:r>
              <a:rPr lang="en-US" sz="4588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-AI로 자기소개서 작성하기</a:t>
            </a:r>
          </a:p>
          <a:p>
            <a:pPr lvl="0" algn="l">
              <a:lnSpc>
                <a:spcPct val="107899"/>
              </a:lnSpc>
            </a:pPr>
            <a:r>
              <a:rPr lang="en-US" sz="4588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지시 예</a:t>
            </a:r>
          </a:p>
          <a:p>
            <a:pPr lvl="0" algn="l">
              <a:lnSpc>
                <a:spcPct val="107899"/>
              </a:lnSpc>
            </a:pPr>
            <a:r>
              <a:rPr lang="en-US" sz="4588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-지원자는 컴퓨터공학과고 수상경력은 ~</a:t>
            </a:r>
          </a:p>
          <a:p>
            <a:pPr lvl="0" algn="l">
              <a:lnSpc>
                <a:spcPct val="107899"/>
              </a:lnSpc>
            </a:pPr>
            <a:r>
              <a:rPr lang="en-US" sz="4588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-지원하려는 직무는 ~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78000" y="1028700"/>
            <a:ext cx="18224500" cy="16637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01. 프롬프트 전략 수립의 기본 원칙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163800" y="3340100"/>
            <a:ext cx="9512300" cy="11176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6297" b="0" i="0" u="none" strike="noStrike" spc="-40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프롬프트 핵심 구성요소 이해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455900" y="4457700"/>
            <a:ext cx="106172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999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지시, 맥락, 입력, 출력 형식, 제약 조건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244600" y="5524500"/>
            <a:ext cx="19964400" cy="6121400"/>
          </a:xfrm>
          <a:prstGeom prst="rect">
            <a:avLst/>
          </a:prstGeom>
        </p:spPr>
        <p:txBody>
          <a:bodyPr lIns="0" tIns="29136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프롬프트의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기본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구조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: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입력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=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AI가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해결할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일</a:t>
            </a:r>
          </a:p>
          <a:p>
            <a:pPr lvl="0" algn="l">
              <a:lnSpc>
                <a:spcPct val="107899"/>
              </a:lnSpc>
            </a:pP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개념</a:t>
            </a:r>
            <a:endParaRPr lang="en-US" sz="4588" b="0" i="0" u="none" strike="noStrike" dirty="0">
              <a:solidFill>
                <a:srgbClr val="000000"/>
              </a:solidFill>
              <a:latin typeface="Gong Gothic Light"/>
              <a:ea typeface="Gong Gothic Light"/>
              <a:cs typeface="Gong Gothic Light"/>
            </a:endParaRPr>
          </a:p>
          <a:p>
            <a:pPr lvl="0" algn="l">
              <a:lnSpc>
                <a:spcPct val="107899"/>
              </a:lnSpc>
            </a:pP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-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인공지능이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처리하고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분석해야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할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구체적인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데이터나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콘텐츠를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제시하는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요소</a:t>
            </a:r>
            <a:endParaRPr lang="en-US" sz="4588" b="0" i="0" u="none" strike="noStrike" dirty="0">
              <a:solidFill>
                <a:srgbClr val="000000"/>
              </a:solidFill>
              <a:latin typeface="Gong Gothic Light"/>
              <a:ea typeface="Gong Gothic Light"/>
              <a:cs typeface="Gong Gothic Light"/>
            </a:endParaRPr>
          </a:p>
          <a:p>
            <a:pPr lvl="0" algn="l">
              <a:lnSpc>
                <a:spcPct val="107899"/>
              </a:lnSpc>
            </a:pP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작성할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프롬프트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주제</a:t>
            </a:r>
            <a:endParaRPr lang="en-US" sz="4588" b="0" i="0" u="none" strike="noStrike" dirty="0">
              <a:solidFill>
                <a:srgbClr val="000000"/>
              </a:solidFill>
              <a:latin typeface="Gong Gothic Light"/>
              <a:ea typeface="Gong Gothic Light"/>
              <a:cs typeface="Gong Gothic Light"/>
            </a:endParaRPr>
          </a:p>
          <a:p>
            <a:pPr lvl="0" algn="l">
              <a:lnSpc>
                <a:spcPct val="107899"/>
              </a:lnSpc>
            </a:pP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-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AI로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자기소개서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작성하기</a:t>
            </a:r>
            <a:endParaRPr lang="en-US" sz="4588" b="0" i="0" u="none" strike="noStrike" dirty="0">
              <a:solidFill>
                <a:srgbClr val="000000"/>
              </a:solidFill>
              <a:latin typeface="Gong Gothic Light"/>
              <a:ea typeface="Gong Gothic Light"/>
              <a:cs typeface="Gong Gothic Light"/>
            </a:endParaRPr>
          </a:p>
          <a:p>
            <a:pPr lvl="0" algn="l">
              <a:lnSpc>
                <a:spcPct val="107899"/>
              </a:lnSpc>
            </a:pP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지시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예</a:t>
            </a:r>
          </a:p>
          <a:p>
            <a:pPr lvl="0" algn="l">
              <a:lnSpc>
                <a:spcPct val="107899"/>
              </a:lnSpc>
            </a:pP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-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자기소개서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질문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: '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본인의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전공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지식을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활용하여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문제를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해결한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경험을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구체적으로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서술하시</a:t>
            </a:r>
            <a:r>
              <a:rPr lang="ko-KR" alt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오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. (500자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이내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)'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78000" y="1028700"/>
            <a:ext cx="18224500" cy="16637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01. 프롬프트 전략 수립의 기본 원칙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163800" y="3340100"/>
            <a:ext cx="9512300" cy="11176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6297" b="0" i="0" u="none" strike="noStrike" spc="-40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프롬프트 핵심 구성요소 이해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455900" y="4457700"/>
            <a:ext cx="106172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999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지시, 맥락, 입력, 출력 형식, 제약 조건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270000" y="4660900"/>
            <a:ext cx="17348200" cy="8394700"/>
          </a:xfrm>
          <a:prstGeom prst="rect">
            <a:avLst/>
          </a:prstGeom>
        </p:spPr>
        <p:txBody>
          <a:bodyPr lIns="0" tIns="29136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프롬프트의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기본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구조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: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출력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형식</a:t>
            </a:r>
            <a:endParaRPr lang="en-US" sz="4588" b="0" i="0" u="none" strike="noStrike" dirty="0">
              <a:solidFill>
                <a:srgbClr val="000000"/>
              </a:solidFill>
              <a:latin typeface="Gong Gothic Light"/>
              <a:ea typeface="Gong Gothic Light"/>
              <a:cs typeface="Gong Gothic Light"/>
            </a:endParaRPr>
          </a:p>
          <a:p>
            <a:pPr lvl="0" algn="l">
              <a:lnSpc>
                <a:spcPct val="107899"/>
              </a:lnSpc>
            </a:pP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개념</a:t>
            </a:r>
            <a:endParaRPr lang="en-US" sz="4588" b="0" i="0" u="none" strike="noStrike" dirty="0">
              <a:solidFill>
                <a:srgbClr val="000000"/>
              </a:solidFill>
              <a:latin typeface="Gong Gothic Light"/>
              <a:ea typeface="Gong Gothic Light"/>
              <a:cs typeface="Gong Gothic Light"/>
            </a:endParaRPr>
          </a:p>
          <a:p>
            <a:pPr lvl="0" algn="l">
              <a:lnSpc>
                <a:spcPct val="107899"/>
              </a:lnSpc>
            </a:pP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-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인공지능이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생성해야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할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결과물의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구조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,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스타일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,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형태를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지정하는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요소</a:t>
            </a:r>
            <a:endParaRPr lang="en-US" sz="4588" b="0" i="0" u="none" strike="noStrike" dirty="0">
              <a:solidFill>
                <a:srgbClr val="000000"/>
              </a:solidFill>
              <a:latin typeface="Gong Gothic Light"/>
              <a:ea typeface="Gong Gothic Light"/>
              <a:cs typeface="Gong Gothic Light"/>
            </a:endParaRPr>
          </a:p>
          <a:p>
            <a:pPr lvl="0" algn="l">
              <a:lnSpc>
                <a:spcPct val="107899"/>
              </a:lnSpc>
            </a:pP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작성할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프롬프트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주제</a:t>
            </a:r>
            <a:endParaRPr lang="en-US" sz="4588" b="0" i="0" u="none" strike="noStrike" dirty="0">
              <a:solidFill>
                <a:srgbClr val="000000"/>
              </a:solidFill>
              <a:latin typeface="Gong Gothic Light"/>
              <a:ea typeface="Gong Gothic Light"/>
              <a:cs typeface="Gong Gothic Light"/>
            </a:endParaRPr>
          </a:p>
          <a:p>
            <a:pPr lvl="0" algn="l">
              <a:lnSpc>
                <a:spcPct val="107899"/>
              </a:lnSpc>
            </a:pP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-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AI로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자기소개서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작성하기</a:t>
            </a:r>
            <a:endParaRPr lang="en-US" sz="4588" b="0" i="0" u="none" strike="noStrike" dirty="0">
              <a:solidFill>
                <a:srgbClr val="000000"/>
              </a:solidFill>
              <a:latin typeface="Gong Gothic Light"/>
              <a:ea typeface="Gong Gothic Light"/>
              <a:cs typeface="Gong Gothic Light"/>
            </a:endParaRPr>
          </a:p>
          <a:p>
            <a:pPr lvl="0" algn="l">
              <a:lnSpc>
                <a:spcPct val="107899"/>
              </a:lnSpc>
            </a:pP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지시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예</a:t>
            </a:r>
          </a:p>
          <a:p>
            <a:pPr lvl="0" algn="l">
              <a:lnSpc>
                <a:spcPct val="107899"/>
              </a:lnSpc>
            </a:pP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-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답변은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다음과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같은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구조로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작성할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것</a:t>
            </a:r>
          </a:p>
          <a:p>
            <a:pPr lvl="0" algn="l">
              <a:lnSpc>
                <a:spcPct val="107899"/>
              </a:lnSpc>
            </a:pP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-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상황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소개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(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문제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제시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)</a:t>
            </a:r>
          </a:p>
          <a:p>
            <a:pPr lvl="0" algn="l">
              <a:lnSpc>
                <a:spcPct val="107899"/>
              </a:lnSpc>
            </a:pP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-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해결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과정</a:t>
            </a:r>
            <a:endParaRPr lang="en-US" sz="4588" b="0" i="0" u="none" strike="noStrike" dirty="0">
              <a:solidFill>
                <a:srgbClr val="000000"/>
              </a:solidFill>
              <a:latin typeface="Gong Gothic Light"/>
              <a:ea typeface="Gong Gothic Light"/>
              <a:cs typeface="Gong Gothic Light"/>
            </a:endParaRPr>
          </a:p>
          <a:p>
            <a:pPr lvl="0" algn="l">
              <a:lnSpc>
                <a:spcPct val="107899"/>
              </a:lnSpc>
            </a:pP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-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결과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및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배운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점</a:t>
            </a:r>
          </a:p>
          <a:p>
            <a:pPr lvl="0" algn="l">
              <a:lnSpc>
                <a:spcPct val="107899"/>
              </a:lnSpc>
            </a:pP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-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해당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ko-KR" altLang="en-US" sz="4588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경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험이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지원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직무와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연결되는</a:t>
            </a:r>
            <a:r>
              <a:rPr lang="en-US" sz="4588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4588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부분</a:t>
            </a:r>
            <a:endParaRPr lang="en-US" sz="4588" b="0" i="0" u="none" strike="noStrike" dirty="0">
              <a:solidFill>
                <a:srgbClr val="000000"/>
              </a:solidFill>
              <a:latin typeface="Gong Gothic Light"/>
              <a:ea typeface="Gong Gothic Light"/>
              <a:cs typeface="Gong Gothic Ligh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778000" y="1028700"/>
            <a:ext cx="18224500" cy="16637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01. 프롬프트 전략 수립의 기본 원칙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163800" y="3340100"/>
            <a:ext cx="9512300" cy="11176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6297" b="0" i="0" u="none" strike="noStrike" spc="-40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프롬프트 핵심 구성요소 이해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455900" y="4457700"/>
            <a:ext cx="106172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999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지시, 맥락, 입력, 출력 형식, 제약 조건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939800" y="5524500"/>
            <a:ext cx="22021800" cy="6870700"/>
          </a:xfrm>
          <a:prstGeom prst="rect">
            <a:avLst/>
          </a:prstGeom>
        </p:spPr>
        <p:txBody>
          <a:bodyPr lIns="0" tIns="29136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4588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프롬프트의 기본 구조: 제약 조건</a:t>
            </a:r>
          </a:p>
          <a:p>
            <a:pPr lvl="0" algn="l">
              <a:lnSpc>
                <a:spcPct val="107899"/>
              </a:lnSpc>
            </a:pPr>
            <a:r>
              <a:rPr lang="en-US" sz="4588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개념</a:t>
            </a:r>
          </a:p>
          <a:p>
            <a:pPr lvl="0" algn="l">
              <a:lnSpc>
                <a:spcPct val="107899"/>
              </a:lnSpc>
            </a:pPr>
            <a:r>
              <a:rPr lang="en-US" sz="4588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-인공지능이 생성하는 결과물에 적용되어야 할 한계, 규칙 또는 특별 지침을 설정하는 요소</a:t>
            </a:r>
          </a:p>
          <a:p>
            <a:pPr lvl="0" algn="l">
              <a:lnSpc>
                <a:spcPct val="107899"/>
              </a:lnSpc>
            </a:pPr>
            <a:r>
              <a:rPr lang="en-US" sz="4588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작성할 프롬프트 주제</a:t>
            </a:r>
          </a:p>
          <a:p>
            <a:pPr lvl="0" algn="l">
              <a:lnSpc>
                <a:spcPct val="107899"/>
              </a:lnSpc>
            </a:pPr>
            <a:r>
              <a:rPr lang="en-US" sz="4588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-AI로 자기소개서 작성하기</a:t>
            </a:r>
          </a:p>
          <a:p>
            <a:pPr lvl="0" algn="l">
              <a:lnSpc>
                <a:spcPct val="107899"/>
              </a:lnSpc>
            </a:pPr>
            <a:r>
              <a:rPr lang="en-US" sz="4588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지시 예</a:t>
            </a:r>
          </a:p>
          <a:p>
            <a:pPr lvl="0" algn="l">
              <a:lnSpc>
                <a:spcPct val="107899"/>
              </a:lnSpc>
            </a:pPr>
            <a:r>
              <a:rPr lang="en-US" sz="4588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-답변 작성 시 과장된 표현은 지양</a:t>
            </a:r>
          </a:p>
          <a:p>
            <a:pPr lvl="0" algn="l">
              <a:lnSpc>
                <a:spcPct val="107899"/>
              </a:lnSpc>
            </a:pPr>
            <a:r>
              <a:rPr lang="en-US" sz="4588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-전문 용어는 최소화하여 인사담당자가 이해하기 쉽게 작성</a:t>
            </a:r>
          </a:p>
          <a:p>
            <a:pPr lvl="0" algn="l">
              <a:lnSpc>
                <a:spcPct val="107899"/>
              </a:lnSpc>
            </a:pPr>
            <a:r>
              <a:rPr lang="en-US" sz="4588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-500자를 초과 금지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78000" y="1028700"/>
            <a:ext cx="18224500" cy="16637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01. 프롬프트 전략 수립의 기본 원칙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163800" y="3340100"/>
            <a:ext cx="9512300" cy="11176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6297" b="0" i="0" u="none" strike="noStrike" spc="-40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프롬프트 핵심 구성요소 이해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455900" y="4457700"/>
            <a:ext cx="106172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999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지시, 맥락, 입력, 출력 형식, 제약 조건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900" y="2743200"/>
            <a:ext cx="18351500" cy="11455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0680700" y="2006600"/>
            <a:ext cx="14173200" cy="1016000"/>
          </a:xfrm>
          <a:prstGeom prst="rect">
            <a:avLst/>
          </a:prstGeom>
        </p:spPr>
        <p:txBody>
          <a:bodyPr lIns="0" tIns="14562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5733" b="0" i="0" u="none" strike="noStrike" spc="-300">
                <a:solidFill>
                  <a:srgbClr val="1B75BB"/>
                </a:solidFill>
                <a:latin typeface="Gong Gothic Medium"/>
                <a:ea typeface="Gong Gothic Medium"/>
                <a:cs typeface="Gong Gothic Medium"/>
              </a:rPr>
              <a:t>용도에 따라 달라지는 텍스트 프롬프트 기본 요소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680700" y="2921000"/>
            <a:ext cx="161290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733" b="0" i="0" u="none" strike="noStrike">
                <a:solidFill>
                  <a:srgbClr val="1B75BB"/>
                </a:solidFill>
                <a:latin typeface="Gong Gothic Light"/>
                <a:ea typeface="Gong Gothic Light"/>
                <a:cs typeface="Gong Gothic Light"/>
              </a:rPr>
              <a:t>실제 사용하려는 사람은 절대로 '프롬프트 기본 요소'에 묶여서는 안됨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78000" y="482600"/>
            <a:ext cx="16814800" cy="16637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02. 목적별 프롬프트 구조화 방법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778000" y="1028700"/>
            <a:ext cx="16814800" cy="16637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03. 프롬프트 역설계 방법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0" y="3340100"/>
            <a:ext cx="16929100" cy="96901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349500" y="4622800"/>
            <a:ext cx="19977100" cy="4483100"/>
          </a:xfrm>
          <a:prstGeom prst="rect">
            <a:avLst/>
          </a:prstGeom>
        </p:spPr>
        <p:txBody>
          <a:bodyPr lIns="0" tIns="270932" rIns="0" bIns="0" rtlCol="0" anchor="t"/>
          <a:lstStyle/>
          <a:p>
            <a:pPr lvl="0" algn="ctr">
              <a:lnSpc>
                <a:spcPct val="83000"/>
              </a:lnSpc>
            </a:pPr>
            <a:r>
              <a:rPr lang="en-US" sz="14696" b="0" i="0" u="none" strike="noStrike" spc="-800" dirty="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05. </a:t>
            </a:r>
            <a:r>
              <a:rPr lang="en-US" sz="14696" b="0" i="0" u="none" strike="noStrike" spc="-800" dirty="0" err="1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프롬프트</a:t>
            </a:r>
            <a:r>
              <a:rPr lang="en-US" sz="14696" b="0" i="0" u="none" strike="noStrike" spc="-800" dirty="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 </a:t>
            </a:r>
            <a:r>
              <a:rPr lang="en-US" sz="14696" b="0" i="0" u="none" strike="noStrike" spc="-800" dirty="0" err="1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엔지니어링</a:t>
            </a:r>
            <a:r>
              <a:rPr lang="en-US" sz="14696" b="0" i="0" u="none" strike="noStrike" spc="-800" dirty="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 </a:t>
            </a:r>
            <a:r>
              <a:rPr lang="en-US" sz="14696" b="0" i="0" u="none" strike="noStrike" spc="-800" dirty="0" err="1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스킬</a:t>
            </a:r>
            <a:r>
              <a:rPr lang="en-US" sz="14696" b="0" i="0" u="none" strike="noStrike" spc="-800" dirty="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 </a:t>
            </a:r>
            <a:r>
              <a:rPr lang="en-US" sz="14696" b="0" i="0" u="none" strike="noStrike" spc="-800" dirty="0" err="1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응용</a:t>
            </a:r>
            <a:endParaRPr lang="en-US" sz="14696" b="0" i="0" u="none" strike="noStrike" spc="-800" dirty="0">
              <a:solidFill>
                <a:srgbClr val="000000"/>
              </a:solidFill>
              <a:latin typeface="Gong Gothic Bold"/>
              <a:ea typeface="Gong Gothic Bold"/>
              <a:cs typeface="Gong Gothic Bold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463800" y="2082800"/>
            <a:ext cx="8178800" cy="16637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학습 목표 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959100" y="5600700"/>
            <a:ext cx="4013200" cy="825500"/>
          </a:xfrm>
          <a:prstGeom prst="rect">
            <a:avLst/>
          </a:prstGeom>
        </p:spPr>
        <p:txBody>
          <a:bodyPr lIns="0" tIns="27940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Heebo ExtraBold"/>
                <a:ea typeface="Heebo ExtraBold"/>
                <a:cs typeface="Heebo ExtraBold"/>
              </a:rPr>
              <a:t>Content 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01000" y="5727700"/>
            <a:ext cx="12814300" cy="7112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999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N-SHOT 프롬프팅, CoT 프롬프팅을 알 수 있다.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27400" y="8470900"/>
            <a:ext cx="3276600" cy="825500"/>
          </a:xfrm>
          <a:prstGeom prst="rect">
            <a:avLst/>
          </a:prstGeom>
        </p:spPr>
        <p:txBody>
          <a:bodyPr lIns="0" tIns="27940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Heebo ExtraBold"/>
                <a:ea typeface="Heebo ExtraBold"/>
                <a:cs typeface="Heebo ExtraBold"/>
              </a:rPr>
              <a:t>Content 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01000" y="8559800"/>
            <a:ext cx="12814300" cy="7112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999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멀티모달 프롬프트를 알 수 있다.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300" y="3505200"/>
            <a:ext cx="16598900" cy="93218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778000" y="1028700"/>
            <a:ext cx="18224500" cy="16637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01. N-SHOT 프롬프팅 기법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47400" y="3340100"/>
            <a:ext cx="3416300" cy="16637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예시O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778000" y="1028700"/>
            <a:ext cx="18224500" cy="16637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02. CoT 프롬프팅 기법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3733800"/>
            <a:ext cx="12992100" cy="7264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9100" y="5740400"/>
            <a:ext cx="15709900" cy="665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019300" y="1270000"/>
            <a:ext cx="18224500" cy="16637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03. 멀티모달 프롬프트 활용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9300" y="4076700"/>
            <a:ext cx="18097500" cy="79502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019300" y="1270000"/>
            <a:ext cx="18224500" cy="16637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03. 멀티모달 프롬프트 활용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800" y="5651500"/>
            <a:ext cx="5486400" cy="2413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4200" y="3898900"/>
            <a:ext cx="16954500" cy="9156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0100" y="9017000"/>
            <a:ext cx="1282700" cy="129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349500" y="4622800"/>
            <a:ext cx="20510500" cy="4483100"/>
          </a:xfrm>
          <a:prstGeom prst="rect">
            <a:avLst/>
          </a:prstGeom>
        </p:spPr>
        <p:txBody>
          <a:bodyPr lIns="0" tIns="270932" rIns="0" bIns="0" rtlCol="0" anchor="t"/>
          <a:lstStyle/>
          <a:p>
            <a:pPr lvl="0" algn="ctr">
              <a:lnSpc>
                <a:spcPct val="83000"/>
              </a:lnSpc>
            </a:pPr>
            <a:r>
              <a:rPr lang="en-US" sz="14696" b="0" i="0" u="none" strike="noStrike" spc="-800" dirty="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06. </a:t>
            </a:r>
            <a:r>
              <a:rPr lang="en-US" sz="14696" b="0" i="0" u="none" strike="noStrike" spc="-800" dirty="0" err="1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프롬프트</a:t>
            </a:r>
            <a:r>
              <a:rPr lang="en-US" sz="14696" b="0" i="0" u="none" strike="noStrike" spc="-800" dirty="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 </a:t>
            </a:r>
            <a:r>
              <a:rPr lang="en-US" sz="14696" b="0" i="0" u="none" strike="noStrike" spc="-800" dirty="0" err="1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엔지니어를</a:t>
            </a:r>
            <a:r>
              <a:rPr lang="en-US" sz="14696" b="0" i="0" u="none" strike="noStrike" spc="-800" dirty="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 </a:t>
            </a:r>
            <a:r>
              <a:rPr lang="en-US" sz="14696" b="0" i="0" u="none" strike="noStrike" spc="-800" dirty="0" err="1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위한</a:t>
            </a:r>
            <a:r>
              <a:rPr lang="en-US" sz="14696" b="0" i="0" u="none" strike="noStrike" spc="-800" dirty="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 </a:t>
            </a:r>
            <a:r>
              <a:rPr lang="en-US" sz="14696" b="0" i="0" u="none" strike="noStrike" spc="-800" dirty="0" err="1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윤리</a:t>
            </a:r>
            <a:r>
              <a:rPr lang="en-US" sz="14696" b="0" i="0" u="none" strike="noStrike" spc="-800" dirty="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 </a:t>
            </a:r>
            <a:r>
              <a:rPr lang="en-US" sz="14696" b="0" i="0" u="none" strike="noStrike" spc="-800" dirty="0" err="1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원칙</a:t>
            </a:r>
            <a:endParaRPr lang="en-US" sz="14696" b="0" i="0" u="none" strike="noStrike" spc="-800" dirty="0">
              <a:solidFill>
                <a:srgbClr val="000000"/>
              </a:solidFill>
              <a:latin typeface="Gong Gothic Bold"/>
              <a:ea typeface="Gong Gothic Bold"/>
              <a:cs typeface="Gong Gothic Bold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463800" y="2082800"/>
            <a:ext cx="8178800" cy="16637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학습 목표 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959100" y="5600700"/>
            <a:ext cx="4013200" cy="825500"/>
          </a:xfrm>
          <a:prstGeom prst="rect">
            <a:avLst/>
          </a:prstGeom>
        </p:spPr>
        <p:txBody>
          <a:bodyPr lIns="0" tIns="27940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Heebo ExtraBold"/>
                <a:ea typeface="Heebo ExtraBold"/>
                <a:cs typeface="Heebo ExtraBold"/>
              </a:rPr>
              <a:t>Content 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01000" y="5727700"/>
            <a:ext cx="12814300" cy="7112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999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AI 윤리에 대한 기본적 개념과 가이드라인을 알 수 있다.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27400" y="8470900"/>
            <a:ext cx="3276600" cy="825500"/>
          </a:xfrm>
          <a:prstGeom prst="rect">
            <a:avLst/>
          </a:prstGeom>
        </p:spPr>
        <p:txBody>
          <a:bodyPr lIns="0" tIns="27940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Heebo ExtraBold"/>
                <a:ea typeface="Heebo ExtraBold"/>
                <a:cs typeface="Heebo ExtraBold"/>
              </a:rPr>
              <a:t>Content 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01000" y="8559800"/>
            <a:ext cx="12814300" cy="7112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999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프롬프트 엔지니어로서 알아야 할 실천 방안을 알 수 있다.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4483100"/>
            <a:ext cx="7124700" cy="1117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0" y="9245600"/>
            <a:ext cx="7175500" cy="1117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17500" y="4610100"/>
            <a:ext cx="7569200" cy="11811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790700" y="1663700"/>
            <a:ext cx="13690600" cy="16637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AI 윤리 기본 원칙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76300" y="4660900"/>
            <a:ext cx="6642100" cy="774700"/>
          </a:xfrm>
          <a:prstGeom prst="rect">
            <a:avLst/>
          </a:prstGeom>
        </p:spPr>
        <p:txBody>
          <a:bodyPr lIns="0" tIns="0" rIns="0" bIns="47413" rtlCol="0" anchor="b"/>
          <a:lstStyle/>
          <a:p>
            <a:pPr lvl="0" algn="ctr">
              <a:lnSpc>
                <a:spcPct val="99600"/>
              </a:lnSpc>
            </a:pPr>
            <a:r>
              <a:rPr lang="en-US" sz="4361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인간 존엄성의 원칙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34200" y="9410700"/>
            <a:ext cx="6654800" cy="774700"/>
          </a:xfrm>
          <a:prstGeom prst="rect">
            <a:avLst/>
          </a:prstGeom>
        </p:spPr>
        <p:txBody>
          <a:bodyPr lIns="0" tIns="0" rIns="0" bIns="47413" rtlCol="0" anchor="b"/>
          <a:lstStyle/>
          <a:p>
            <a:pPr lvl="0" algn="ctr">
              <a:lnSpc>
                <a:spcPct val="99600"/>
              </a:lnSpc>
            </a:pPr>
            <a:r>
              <a:rPr lang="en-US" sz="436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사회의 공공선 원칙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296900" y="4800600"/>
            <a:ext cx="7023100" cy="825500"/>
          </a:xfrm>
          <a:prstGeom prst="rect">
            <a:avLst/>
          </a:prstGeom>
        </p:spPr>
        <p:txBody>
          <a:bodyPr lIns="0" tIns="0" rIns="0" bIns="47413" rtlCol="0" anchor="b"/>
          <a:lstStyle/>
          <a:p>
            <a:pPr lvl="0" algn="ctr">
              <a:lnSpc>
                <a:spcPct val="99600"/>
              </a:lnSpc>
            </a:pPr>
            <a:r>
              <a:rPr lang="en-US" sz="4610" b="0" i="0" u="none" strike="noStrike">
                <a:solidFill>
                  <a:srgbClr val="FFFFFF"/>
                </a:solidFill>
                <a:latin typeface="Gong Gothic Light"/>
                <a:ea typeface="Gong Gothic Light"/>
                <a:cs typeface="Gong Gothic Light"/>
              </a:rPr>
              <a:t>기술의 합목적성 원칙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8500" y="5994400"/>
            <a:ext cx="8991600" cy="1739900"/>
          </a:xfrm>
          <a:prstGeom prst="rect">
            <a:avLst/>
          </a:prstGeom>
        </p:spPr>
        <p:txBody>
          <a:bodyPr lIns="0" tIns="18626" rIns="0" bIns="0" rtlCol="0" anchor="t"/>
          <a:lstStyle/>
          <a:p>
            <a:pPr marL="342900" lvl="1" indent="-342900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427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AI는 우리의 도우미일 뿐!</a:t>
            </a:r>
          </a:p>
          <a:p>
            <a:pPr marL="342900" lvl="1" indent="-342900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427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우리의 기본적인 권리나 자유를 해치면 안 됨</a:t>
            </a:r>
          </a:p>
          <a:p>
            <a:pPr marL="342900" lvl="1" indent="-342900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427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우리의 개인정보를 함부로 사용하면 안 됨 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92700" y="10756900"/>
            <a:ext cx="14071600" cy="1739900"/>
          </a:xfrm>
          <a:prstGeom prst="rect">
            <a:avLst/>
          </a:prstGeom>
        </p:spPr>
        <p:txBody>
          <a:bodyPr lIns="0" tIns="18626" rIns="0" bIns="0" rtlCol="0" anchor="t"/>
          <a:lstStyle/>
          <a:p>
            <a:pPr marL="342900" lvl="1" indent="-342900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430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AI는</a:t>
            </a:r>
            <a:r>
              <a:rPr lang="en-US" sz="3430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3430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특정</a:t>
            </a:r>
            <a:r>
              <a:rPr lang="en-US" sz="3430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3430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사람이나</a:t>
            </a:r>
            <a:r>
              <a:rPr lang="en-US" sz="3430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3430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집단만이</a:t>
            </a:r>
            <a:r>
              <a:rPr lang="en-US" sz="3430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3430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아닌</a:t>
            </a:r>
            <a:r>
              <a:rPr lang="en-US" sz="3430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, </a:t>
            </a:r>
            <a:r>
              <a:rPr lang="en-US" sz="3430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모든</a:t>
            </a:r>
            <a:r>
              <a:rPr lang="en-US" sz="3430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3430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사람에게</a:t>
            </a:r>
            <a:r>
              <a:rPr lang="en-US" sz="3430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3430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도움이</a:t>
            </a:r>
            <a:r>
              <a:rPr lang="en-US" sz="3430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3430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되어야</a:t>
            </a:r>
            <a:r>
              <a:rPr lang="en-US" sz="3430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함</a:t>
            </a:r>
          </a:p>
          <a:p>
            <a:pPr marL="342900" lvl="1" indent="-342900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430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환경을</a:t>
            </a:r>
            <a:r>
              <a:rPr lang="en-US" sz="3430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3430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해치거나</a:t>
            </a:r>
            <a:r>
              <a:rPr lang="en-US" sz="3430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3430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사회</a:t>
            </a:r>
            <a:r>
              <a:rPr lang="en-US" sz="3430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3430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문제를</a:t>
            </a:r>
            <a:r>
              <a:rPr lang="en-US" sz="3430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3430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일으키면</a:t>
            </a:r>
            <a:r>
              <a:rPr lang="en-US" sz="3430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안 됨</a:t>
            </a:r>
          </a:p>
          <a:p>
            <a:pPr marL="342900" lvl="1" indent="-342900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3430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모든</a:t>
            </a:r>
            <a:r>
              <a:rPr lang="en-US" sz="3430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3430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사람이</a:t>
            </a:r>
            <a:r>
              <a:rPr lang="en-US" sz="3430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3430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AI의</a:t>
            </a:r>
            <a:r>
              <a:rPr lang="en-US" sz="3430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3430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혜택을</a:t>
            </a:r>
            <a:r>
              <a:rPr lang="en-US" sz="3430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3430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골고루</a:t>
            </a:r>
            <a:r>
              <a:rPr lang="en-US" sz="3430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</a:t>
            </a:r>
            <a:r>
              <a:rPr lang="en-US" sz="3430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누릴</a:t>
            </a:r>
            <a:r>
              <a:rPr lang="en-US" sz="3430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수 </a:t>
            </a:r>
            <a:r>
              <a:rPr lang="en-US" sz="3430" b="0" i="0" u="none" strike="noStrike" dirty="0" err="1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있어야</a:t>
            </a:r>
            <a:r>
              <a:rPr lang="en-US" sz="3430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 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322300" y="6146800"/>
            <a:ext cx="10820400" cy="1841500"/>
          </a:xfrm>
          <a:prstGeom prst="rect">
            <a:avLst/>
          </a:prstGeom>
        </p:spPr>
        <p:txBody>
          <a:bodyPr lIns="0" tIns="18626" rIns="0" bIns="0" rtlCol="0" anchor="t"/>
          <a:lstStyle/>
          <a:p>
            <a:pPr marL="342900" lvl="1" indent="-342900" algn="l">
              <a:lnSpc>
                <a:spcPct val="107899"/>
              </a:lnSpc>
              <a:buAutoNum type="arabicPeriod"/>
            </a:pPr>
            <a:r>
              <a:rPr lang="en-US" sz="3622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AI는 처음 만들어진 좋은 목적대로 사용되어야 함</a:t>
            </a:r>
          </a:p>
          <a:p>
            <a:pPr marL="342900" lvl="1" indent="-342900" algn="l">
              <a:lnSpc>
                <a:spcPct val="107899"/>
              </a:lnSpc>
              <a:buAutoNum type="arabicPeriod"/>
            </a:pPr>
            <a:r>
              <a:rPr lang="en-US" sz="3622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나쁜 일에 쓰이면 안 됨</a:t>
            </a:r>
          </a:p>
          <a:p>
            <a:pPr marL="342900" lvl="1" indent="-342900" algn="l">
              <a:lnSpc>
                <a:spcPct val="107899"/>
              </a:lnSpc>
              <a:buAutoNum type="arabicPeriod"/>
            </a:pPr>
            <a:r>
              <a:rPr lang="en-US" sz="3622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기술의 발전이 우리의 삶을 더 좋게 만들어야 함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200" y="9283700"/>
            <a:ext cx="4229100" cy="4229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0" y="6019800"/>
            <a:ext cx="3213100" cy="32512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" y="1689100"/>
            <a:ext cx="22123400" cy="10337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300" y="7200900"/>
            <a:ext cx="1282700" cy="129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8700" y="762000"/>
            <a:ext cx="16992600" cy="1816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032000" y="1130300"/>
            <a:ext cx="17386300" cy="1270000"/>
          </a:xfrm>
          <a:prstGeom prst="rect">
            <a:avLst/>
          </a:prstGeom>
        </p:spPr>
        <p:txBody>
          <a:bodyPr lIns="0" tIns="0" rIns="0" bIns="90412" rtlCol="0" anchor="b"/>
          <a:lstStyle/>
          <a:p>
            <a:pPr lvl="0" algn="ctr">
              <a:lnSpc>
                <a:spcPct val="99600"/>
              </a:lnSpc>
            </a:pPr>
            <a:r>
              <a:rPr lang="en-US" sz="7119" b="0" i="0" u="none" strike="noStrike">
                <a:solidFill>
                  <a:srgbClr val="FFFFFF"/>
                </a:solidFill>
                <a:latin typeface="Gong Gothic Light"/>
                <a:ea typeface="Gong Gothic Light"/>
                <a:cs typeface="Gong Gothic Light"/>
              </a:rPr>
              <a:t>AI 윤리 기본 원칙을 달성하기 위한 핵심 요건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300" y="3530600"/>
            <a:ext cx="24206200" cy="88646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133600" y="1473200"/>
            <a:ext cx="17119600" cy="16637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프롬프트 설계 시 윤리적 체크 리스트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3644900"/>
            <a:ext cx="24028400" cy="80137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3340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0" y="12395200"/>
            <a:ext cx="1270000" cy="132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950200" y="8102600"/>
            <a:ext cx="8432800" cy="508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438400" y="3860800"/>
            <a:ext cx="8483600" cy="660400"/>
          </a:xfrm>
          <a:prstGeom prst="rect">
            <a:avLst/>
          </a:prstGeom>
        </p:spPr>
        <p:txBody>
          <a:bodyPr lIns="0" tIns="4741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733" b="0" i="0" u="none" strike="noStrike" cap="all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투명성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38400" y="4711700"/>
            <a:ext cx="8928100" cy="6337300"/>
          </a:xfrm>
          <a:prstGeom prst="rect">
            <a:avLst/>
          </a:prstGeom>
        </p:spPr>
        <p:txBody>
          <a:bodyPr lIns="0" tIns="18626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1. 정의</a:t>
            </a:r>
          </a:p>
          <a:p>
            <a:pPr lvl="0" algn="l">
              <a:lnSpc>
                <a:spcPct val="1078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AI 시스템의 작동 방식, 의사결정 과정, 데이터 사용에 대해</a:t>
            </a:r>
          </a:p>
          <a:p>
            <a:pPr lvl="0" algn="l">
              <a:lnSpc>
                <a:spcPct val="1078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명확히 공개되고, 사용자가 이해가능해야 한다는 것</a:t>
            </a:r>
          </a:p>
          <a:p>
            <a:pPr lvl="0" algn="l">
              <a:lnSpc>
                <a:spcPct val="107899"/>
              </a:lnSpc>
            </a:pPr>
            <a:endParaRPr lang="en-US" sz="2933" b="0" i="0" u="none" strike="noStrike">
              <a:solidFill>
                <a:srgbClr val="000000"/>
              </a:solidFill>
              <a:latin typeface="Gong Gothic Light"/>
              <a:ea typeface="Gong Gothic Light"/>
              <a:cs typeface="Gong Gothic Light"/>
            </a:endParaRPr>
          </a:p>
          <a:p>
            <a:pPr lvl="0" algn="l">
              <a:lnSpc>
                <a:spcPct val="1078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2. 주요 요소</a:t>
            </a:r>
          </a:p>
          <a:p>
            <a:pPr marL="342900" lvl="1" indent="-342900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알고리즘 투명성</a:t>
            </a:r>
          </a:p>
          <a:p>
            <a:pPr marL="342900" lvl="1" indent="-342900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데이터 투명성</a:t>
            </a:r>
          </a:p>
          <a:p>
            <a:pPr marL="342900" lvl="1" indent="-342900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사용 투명성</a:t>
            </a:r>
          </a:p>
          <a:p>
            <a:pPr lvl="0" algn="l">
              <a:lnSpc>
                <a:spcPct val="107899"/>
              </a:lnSpc>
            </a:pPr>
            <a:endParaRPr lang="en-US" sz="2933" b="0" i="0" u="none" strike="noStrike">
              <a:solidFill>
                <a:srgbClr val="000000"/>
              </a:solidFill>
              <a:latin typeface="Gong Gothic Light"/>
              <a:ea typeface="Gong Gothic Light"/>
              <a:cs typeface="Gong Gothic Light"/>
            </a:endParaRPr>
          </a:p>
          <a:p>
            <a:pPr lvl="0" algn="l">
              <a:lnSpc>
                <a:spcPct val="1078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3, 중요성</a:t>
            </a:r>
          </a:p>
          <a:p>
            <a:pPr marL="342900" lvl="1" indent="-342900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신뢰 구축: 사용자와 이해관계자 간 신뢰 형성</a:t>
            </a:r>
          </a:p>
          <a:p>
            <a:pPr marL="342900" lvl="1" indent="-342900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책임성 강화: 의사결정 과정의 검증 및 감사 가능</a:t>
            </a:r>
          </a:p>
          <a:p>
            <a:pPr marL="342900" lvl="1" indent="-342900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편향성 탐지: 불공정하거나 차별적인 결과 식별 용이 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195300" y="3860800"/>
            <a:ext cx="8966200" cy="660400"/>
          </a:xfrm>
          <a:prstGeom prst="rect">
            <a:avLst/>
          </a:prstGeom>
        </p:spPr>
        <p:txBody>
          <a:bodyPr lIns="0" tIns="4741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733" b="0" i="0" u="none" strike="noStrike" cap="all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설명 가능성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195300" y="4711700"/>
            <a:ext cx="9639300" cy="7785100"/>
          </a:xfrm>
          <a:prstGeom prst="rect">
            <a:avLst/>
          </a:prstGeom>
        </p:spPr>
        <p:txBody>
          <a:bodyPr lIns="0" tIns="18626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1. 정의</a:t>
            </a:r>
          </a:p>
          <a:p>
            <a:pPr lvl="0" algn="l">
              <a:lnSpc>
                <a:spcPct val="1078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AI 시스템의 특정 결정이나 예측에 대한 이유를 이해하기 쉽게 설명하는 능력</a:t>
            </a:r>
          </a:p>
          <a:p>
            <a:pPr lvl="0" algn="l">
              <a:lnSpc>
                <a:spcPct val="107899"/>
              </a:lnSpc>
            </a:pPr>
            <a:endParaRPr lang="en-US" sz="2933" b="0" i="0" u="none" strike="noStrike">
              <a:solidFill>
                <a:srgbClr val="000000"/>
              </a:solidFill>
              <a:latin typeface="Gong Gothic Light"/>
              <a:ea typeface="Gong Gothic Light"/>
              <a:cs typeface="Gong Gothic Light"/>
            </a:endParaRPr>
          </a:p>
          <a:p>
            <a:pPr lvl="0" algn="l">
              <a:lnSpc>
                <a:spcPct val="1078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2. 주요 기법</a:t>
            </a:r>
          </a:p>
          <a:p>
            <a:pPr lvl="0" algn="l">
              <a:lnSpc>
                <a:spcPct val="1078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1) 특정 중요도</a:t>
            </a:r>
          </a:p>
          <a:p>
            <a:pPr marL="342900" lvl="1" indent="-342900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모델의 결정에 영향을 미치는 주요 요인 식별</a:t>
            </a:r>
          </a:p>
          <a:p>
            <a:pPr marL="342900" lvl="1" indent="-342900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각 입력 변수가 결과에 미치는 영향력 수치화</a:t>
            </a:r>
          </a:p>
          <a:p>
            <a:pPr lvl="0" algn="l">
              <a:lnSpc>
                <a:spcPct val="107899"/>
              </a:lnSpc>
            </a:pPr>
            <a:endParaRPr lang="en-US" sz="2933" b="0" i="0" u="none" strike="noStrike">
              <a:solidFill>
                <a:srgbClr val="000000"/>
              </a:solidFill>
              <a:latin typeface="Gong Gothic Light"/>
              <a:ea typeface="Gong Gothic Light"/>
              <a:cs typeface="Gong Gothic Light"/>
            </a:endParaRPr>
          </a:p>
          <a:p>
            <a:pPr lvl="0" algn="l">
              <a:lnSpc>
                <a:spcPct val="1078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2) 반사실적 설명</a:t>
            </a:r>
          </a:p>
          <a:p>
            <a:pPr marL="342900" lvl="1" indent="-342900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다른 입력 조건에서의 결과 변화 설명</a:t>
            </a:r>
          </a:p>
          <a:p>
            <a:pPr marL="342900" lvl="1" indent="-342900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"만약 X가 Y였다면, 결과는 Z열을 것" 형태로 제시</a:t>
            </a:r>
          </a:p>
          <a:p>
            <a:pPr lvl="0" algn="l">
              <a:lnSpc>
                <a:spcPct val="107899"/>
              </a:lnSpc>
            </a:pPr>
            <a:endParaRPr lang="en-US" sz="2933" b="0" i="0" u="none" strike="noStrike">
              <a:solidFill>
                <a:srgbClr val="000000"/>
              </a:solidFill>
              <a:latin typeface="Gong Gothic Light"/>
              <a:ea typeface="Gong Gothic Light"/>
              <a:cs typeface="Gong Gothic Light"/>
            </a:endParaRPr>
          </a:p>
          <a:p>
            <a:pPr lvl="0" algn="l">
              <a:lnSpc>
                <a:spcPct val="1078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3) 시각화 기법</a:t>
            </a:r>
          </a:p>
          <a:p>
            <a:pPr marL="342900" lvl="1" indent="-342900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모델의 의사결정 과정을 시각적으로 표현</a:t>
            </a:r>
          </a:p>
          <a:p>
            <a:pPr marL="342900" lvl="1" indent="-342900" algn="l">
              <a:lnSpc>
                <a:spcPct val="1078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히트맵, 의사결정 트리, 특정 중요도 그래프 활용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65300" y="838200"/>
            <a:ext cx="13690600" cy="1663700"/>
          </a:xfrm>
          <a:prstGeom prst="rect">
            <a:avLst/>
          </a:prstGeom>
        </p:spPr>
        <p:txBody>
          <a:bodyPr lIns="0" tIns="237066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9333" b="0" i="0" u="none" strike="noStrike" spc="-500">
                <a:solidFill>
                  <a:srgbClr val="000000"/>
                </a:solidFill>
                <a:latin typeface="Gong Gothic Bold"/>
                <a:ea typeface="Gong Gothic Bold"/>
                <a:cs typeface="Gong Gothic Bold"/>
              </a:rPr>
              <a:t>투명성과 설명 가능성 확보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4000" y="4749800"/>
            <a:ext cx="1270000" cy="4229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49800"/>
            <a:ext cx="1270000" cy="4229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930400" y="12217400"/>
            <a:ext cx="67056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400" b="0" i="0" u="none" strike="noStrike" cap="all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esc 2401 신채원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30400" y="5092700"/>
            <a:ext cx="10909300" cy="3035300"/>
          </a:xfrm>
          <a:prstGeom prst="rect">
            <a:avLst/>
          </a:prstGeom>
        </p:spPr>
        <p:txBody>
          <a:bodyPr lIns="0" tIns="433494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17066" b="0" i="0" u="none" strike="noStrike" spc="-900">
                <a:solidFill>
                  <a:srgbClr val="000000"/>
                </a:solidFill>
                <a:latin typeface="Lexend Bold"/>
                <a:ea typeface="Lexend Bold"/>
                <a:cs typeface="Lexend Bold"/>
              </a:rPr>
              <a:t>THE END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0200" y="4254500"/>
            <a:ext cx="7835900" cy="6032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1356</Words>
  <Application>Microsoft Office PowerPoint</Application>
  <PresentationFormat>사용자 지정</PresentationFormat>
  <Paragraphs>243</Paragraphs>
  <Slides>53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53</vt:i4>
      </vt:variant>
    </vt:vector>
  </HeadingPairs>
  <TitlesOfParts>
    <vt:vector size="62" baseType="lpstr">
      <vt:lpstr>Heebo Light</vt:lpstr>
      <vt:lpstr>Arial</vt:lpstr>
      <vt:lpstr>Gong Gothic Light</vt:lpstr>
      <vt:lpstr>Lexend Bold</vt:lpstr>
      <vt:lpstr>Gong Gothic Medium</vt:lpstr>
      <vt:lpstr>Calibri</vt:lpstr>
      <vt:lpstr>Heebo ExtraBold</vt:lpstr>
      <vt:lpstr>Gong Gothic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CHAE WON SHIN</cp:lastModifiedBy>
  <cp:revision>1</cp:revision>
  <dcterms:created xsi:type="dcterms:W3CDTF">2006-08-16T00:00:00Z</dcterms:created>
  <dcterms:modified xsi:type="dcterms:W3CDTF">2026-04-08T13:41:26Z</dcterms:modified>
</cp:coreProperties>
</file>